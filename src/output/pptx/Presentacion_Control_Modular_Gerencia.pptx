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748b96565e14192" /><Relationship Type="http://schemas.openxmlformats.org/officeDocument/2006/relationships/extended-properties" Target="/docProps/app.xml" Id="R6eaa9d458e064aec" /><Relationship Type="http://schemas.openxmlformats.org/officeDocument/2006/relationships/officeDocument" Target="/ppt/presentation.xml" Id="R142a5fc4cf014bb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47dc76aea9e4137"/>
  </p:sldMasterIdLst>
  <p:notesMasterIdLst>
    <p:notesMasterId xmlns:r="http://schemas.openxmlformats.org/officeDocument/2006/relationships" r:id="R1bb74e98329b441f"/>
  </p:notesMasterIdLst>
  <p:sldIdLst>
    <p:sldId xmlns:r="http://schemas.openxmlformats.org/officeDocument/2006/relationships" id="256" r:id="R07cd905a833b409c"/>
    <p:sldId xmlns:r="http://schemas.openxmlformats.org/officeDocument/2006/relationships" id="257" r:id="Rf0dde94b425a4c05"/>
    <p:sldId xmlns:r="http://schemas.openxmlformats.org/officeDocument/2006/relationships" id="258" r:id="R2d4aeeed6c0c4daa"/>
    <p:sldId xmlns:r="http://schemas.openxmlformats.org/officeDocument/2006/relationships" id="259" r:id="R1d494a6072204d89"/>
    <p:sldId xmlns:r="http://schemas.openxmlformats.org/officeDocument/2006/relationships" id="260" r:id="R0970dabe5d4e433d"/>
    <p:sldId xmlns:r="http://schemas.openxmlformats.org/officeDocument/2006/relationships" id="261" r:id="Re4bbcea480ff4b33"/>
    <p:sldId xmlns:r="http://schemas.openxmlformats.org/officeDocument/2006/relationships" id="262" r:id="Rdff5eeb9de6149e0"/>
  </p:sldIdLst>
  <p:sldSz cx="7562850" cy="1069657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914e004824c4e6e" /><Relationship Type="http://schemas.openxmlformats.org/officeDocument/2006/relationships/slideMaster" Target="/ppt/slideMasters/slideMaster1.xml" Id="Rc47dc76aea9e4137" /><Relationship Type="http://schemas.openxmlformats.org/officeDocument/2006/relationships/notesMaster" Target="/ppt/notesMasters/notesMaster1.xml" Id="R1bb74e98329b441f" /><Relationship Type="http://schemas.openxmlformats.org/officeDocument/2006/relationships/presProps" Target="/ppt/presProps.xml" Id="R875b84ccbf0b4d9c" /><Relationship Type="http://schemas.openxmlformats.org/officeDocument/2006/relationships/tableStyles" Target="/ppt/tableStyles.xml" Id="R2f73c021ca714ecf" /><Relationship Type="http://schemas.openxmlformats.org/officeDocument/2006/relationships/slide" Target="/ppt/slides/slide1.xml" Id="R07cd905a833b409c" /><Relationship Type="http://schemas.openxmlformats.org/officeDocument/2006/relationships/slide" Target="/ppt/slides/slide2.xml" Id="Rf0dde94b425a4c05" /><Relationship Type="http://schemas.openxmlformats.org/officeDocument/2006/relationships/slide" Target="/ppt/slides/slide3.xml" Id="R2d4aeeed6c0c4daa" /><Relationship Type="http://schemas.openxmlformats.org/officeDocument/2006/relationships/slide" Target="/ppt/slides/slide4.xml" Id="R1d494a6072204d89" /><Relationship Type="http://schemas.openxmlformats.org/officeDocument/2006/relationships/slide" Target="/ppt/slides/slide5.xml" Id="R0970dabe5d4e433d" /><Relationship Type="http://schemas.openxmlformats.org/officeDocument/2006/relationships/slide" Target="/ppt/slides/slide6.xml" Id="Re4bbcea480ff4b33" /><Relationship Type="http://schemas.openxmlformats.org/officeDocument/2006/relationships/slide" Target="/ppt/slides/slide7.xml" Id="Rdff5eeb9de6149e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16433860a194eb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01b79182b3d405c" /><Relationship Type="http://schemas.openxmlformats.org/officeDocument/2006/relationships/notesMaster" Target="/ppt/notesMasters/notesMaster1.xml" Id="R8c7a689b90634e9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01f617291c74661" /><Relationship Type="http://schemas.openxmlformats.org/officeDocument/2006/relationships/notesMaster" Target="/ppt/notesMasters/notesMaster1.xml" Id="R37ddba370f3d4e9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3fbfdd69c744c5f" /><Relationship Type="http://schemas.openxmlformats.org/officeDocument/2006/relationships/notesMaster" Target="/ppt/notesMasters/notesMaster1.xml" Id="R13514e370dcf4a6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001d01cc9234f9c" /><Relationship Type="http://schemas.openxmlformats.org/officeDocument/2006/relationships/notesMaster" Target="/ppt/notesMasters/notesMaster1.xml" Id="R465527629b7f4c5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5ad4599d86c41d5" /><Relationship Type="http://schemas.openxmlformats.org/officeDocument/2006/relationships/notesMaster" Target="/ppt/notesMasters/notesMaster1.xml" Id="R2b958377de9943f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9a9eb26d4d042bc" /><Relationship Type="http://schemas.openxmlformats.org/officeDocument/2006/relationships/notesMaster" Target="/ppt/notesMasters/notesMaster1.xml" Id="R38f14621a81440f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6ac4f623c1c40b4" /><Relationship Type="http://schemas.openxmlformats.org/officeDocument/2006/relationships/notesMaster" Target="/ppt/notesMasters/notesMaster1.xml" Id="R4e1748916a3b45e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Diseño inspirado en el documento de referencia entregado por el usuario. Captura de la aplicación Control Modular.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1db2c394f5a43a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312162c2e7642b6" /><Relationship Type="http://schemas.openxmlformats.org/officeDocument/2006/relationships/slideLayout" Target="/ppt/slideLayouts/slideLayout1.xml" Id="R0c542a9990614b3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c542a9990614b3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05c61d205f4e7a" /><Relationship Type="http://schemas.openxmlformats.org/officeDocument/2006/relationships/image" Target="/ppt/media/image.png" Id="Rf6c736ee37da4ac0" /><Relationship Type="http://schemas.openxmlformats.org/officeDocument/2006/relationships/notesSlide" Target="/ppt/notesSlides/notesSlide1.xml" Id="Ra74256b068bd4f9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46f02e55df4f2c" /><Relationship Type="http://schemas.openxmlformats.org/officeDocument/2006/relationships/notesSlide" Target="/ppt/notesSlides/notesSlide2.xml" Id="R9df319999d204df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0bb16f814d4a29" /><Relationship Type="http://schemas.openxmlformats.org/officeDocument/2006/relationships/notesSlide" Target="/ppt/notesSlides/notesSlide3.xml" Id="R3deed45f517e414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a60f1ea945484f" /><Relationship Type="http://schemas.openxmlformats.org/officeDocument/2006/relationships/image" Target="/ppt/media/image2.png" Id="Ra419b0ff96c04fd9" /><Relationship Type="http://schemas.openxmlformats.org/officeDocument/2006/relationships/notesSlide" Target="/ppt/notesSlides/notesSlide4.xml" Id="R0b6691b4929b47b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0094bca261473a" /><Relationship Type="http://schemas.openxmlformats.org/officeDocument/2006/relationships/image" Target="/ppt/media/image3.png" Id="R26f40feaef1e488a" /><Relationship Type="http://schemas.openxmlformats.org/officeDocument/2006/relationships/notesSlide" Target="/ppt/notesSlides/notesSlide5.xml" Id="R3e3108c6cea34c3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bc142c25a246f1" /><Relationship Type="http://schemas.openxmlformats.org/officeDocument/2006/relationships/image" Target="/ppt/media/image4.png" Id="R4bad75b126c946e6" /><Relationship Type="http://schemas.openxmlformats.org/officeDocument/2006/relationships/image" Target="/ppt/media/image.jpeg" Id="R77fe7444ad6b42b3" /><Relationship Type="http://schemas.openxmlformats.org/officeDocument/2006/relationships/notesSlide" Target="/ppt/notesSlides/notesSlide6.xml" Id="Ra8bf985a9b2243f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c3f60f80ca4a4a" /><Relationship Type="http://schemas.openxmlformats.org/officeDocument/2006/relationships/image" Target="/ppt/media/image5.png" Id="R600210c747bd498b" /><Relationship Type="http://schemas.openxmlformats.org/officeDocument/2006/relationships/notesSlide" Target="/ppt/notesSlides/notesSlide7.xml" Id="R8e3a4cec49fb4df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FB351D-BB21-4C75-8CB7-3DB8D3A03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562850" cy="733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53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1F9BF2-9146-4B1F-A70D-AFC347DA9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62000"/>
            <a:ext cx="685800" cy="6858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31D6D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D796E0-6D0E-4EEB-BA5F-9B24D9101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6200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 i="0">
                <a:solidFill>
                  <a:srgbClr val="0B2533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0B2533"/>
                </a:solidFill>
                <a:latin typeface="Arial"/>
                <a:ea typeface="Arial"/>
                <a:cs typeface="Arial"/>
              </a:rPr>
              <a:t>CM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B062DB-524F-476E-840D-B29D88CC6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383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 i="0">
                <a:solidFill>
                  <a:srgbClr val="F4B51D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4B51D"/>
                </a:solidFill>
                <a:latin typeface="Arial"/>
                <a:ea typeface="Arial"/>
                <a:cs typeface="Arial"/>
              </a:rPr>
              <a:t>PRESENTACIÓN A GERENCIA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153A36-7404-4DCC-A1DA-685A015B3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81250"/>
            <a:ext cx="6191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88000"/>
              </a:lnSpc>
              <a:buNone/>
              <a:defRPr sz="4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Control</a:t>
            </a:r>
          </a:p>
          <a:p xmlns:a="http://schemas.openxmlformats.org/drawingml/2006/main">
            <a:pPr algn="l">
              <a:lnSpc>
                <a:spcPct val="88000"/>
              </a:lnSpc>
              <a:buNone/>
              <a:defRPr sz="4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Modular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9AB476-CD40-43E1-8EED-305D628D0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81450"/>
            <a:ext cx="590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 i="0">
                <a:solidFill>
                  <a:srgbClr val="C9D8DF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C9D8DF"/>
                </a:solidFill>
                <a:latin typeface="Arial"/>
                <a:ea typeface="Arial"/>
                <a:cs typeface="Arial"/>
              </a:rPr>
              <a:t>Gestión integral de módulos, protocolos, mantención y bodega en una sola aplicación.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A2B0B7-EE94-46D2-A4BE-9394D1C67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334000"/>
            <a:ext cx="5334000" cy="32004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8"/>
          <a:fontRef xmlns:a="http://schemas.openxmlformats.org/drawingml/2006/main" idx="major"/>
        </p:style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c736ee37da4ac0"/>
          <a:srcRect xmlns:a="http://schemas.openxmlformats.org/drawingml/2006/main" l="12000" t="0" r="0" b="9000"/>
          <a:stretch xmlns:a="http://schemas.openxmlformats.org/drawingml/2006/main"/>
        </p:blipFill>
        <p:spPr>
          <a:xfrm xmlns:a="http://schemas.openxmlformats.org/drawingml/2006/main">
            <a:off x="1676400" y="5429250"/>
            <a:ext cx="5143500" cy="3009900"/>
          </a:xfrm>
          <a:prstGeom xmlns:a="http://schemas.openxmlformats.org/drawingml/2006/main" prst="roundRect">
            <a:avLst>
              <a:gd name="adj" fmla="val 3165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0BF281-2F84-4652-B87D-9E76D22A9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99160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 i="0">
                <a:solidFill>
                  <a:srgbClr val="8492A0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8492A0"/>
                </a:solidFill>
                <a:latin typeface="Arial"/>
                <a:ea typeface="Arial"/>
                <a:cs typeface="Arial"/>
              </a:rPr>
              <a:t>APLICACIÓN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1B8E81-0CB6-488C-B35E-B9698594A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25830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i="0">
                <a:solidFill>
                  <a:srgbClr val="0B2533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0B2533"/>
                </a:solidFill>
                <a:latin typeface="Arial"/>
                <a:ea typeface="Arial"/>
                <a:cs typeface="Arial"/>
              </a:rPr>
              <a:t>Control Modular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26DFB1-9BE1-4A3A-9559-8557D655B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899160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 i="0">
                <a:solidFill>
                  <a:srgbClr val="8492A0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8492A0"/>
                </a:solidFill>
                <a:latin typeface="Arial"/>
                <a:ea typeface="Arial"/>
                <a:cs typeface="Arial"/>
              </a:rPr>
              <a:t>PLANTA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1B822C-6158-4787-8E00-D415B413F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925830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i="0">
                <a:solidFill>
                  <a:srgbClr val="0B2533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0B2533"/>
                </a:solidFill>
                <a:latin typeface="Arial"/>
                <a:ea typeface="Arial"/>
                <a:cs typeface="Arial"/>
              </a:rPr>
              <a:t>Planta Bayona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F7DC1F-5951-4E96-92F1-C9ED5066A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899160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 i="0">
                <a:solidFill>
                  <a:srgbClr val="8492A0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8492A0"/>
                </a:solidFill>
                <a:latin typeface="Arial"/>
                <a:ea typeface="Arial"/>
                <a:cs typeface="Arial"/>
              </a:rPr>
              <a:t>FECHA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0E8774-889E-4CEE-845D-97771C5C2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925830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i="0">
                <a:solidFill>
                  <a:srgbClr val="0B2533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0B2533"/>
                </a:solidFill>
                <a:latin typeface="Arial"/>
                <a:ea typeface="Arial"/>
                <a:cs typeface="Arial"/>
              </a:rPr>
              <a:t>Septiembre 2026</a:t>
            </a:r>
          </a:p>
        </p:txBody>
      </p:sp>
    </p:spTree>
    <p:extLst>
      <p:ext uri="{BB962C8B-B14F-4D97-AF65-F5344CB8AC3E}">
        <p14:creationId xmlns:p14="http://schemas.microsoft.com/office/powerpoint/2010/main" val="171912357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1F15F0F-2B55-4D0E-BB89-49AC0C752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 i="0">
                <a:solidFill>
                  <a:srgbClr val="8492A0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8492A0"/>
                </a:solidFill>
                <a:latin typeface="Arial"/>
                <a:ea typeface="Arial"/>
                <a:cs typeface="Arial"/>
              </a:rPr>
              <a:t>CONTROL MODULAR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7AE9E5-875D-4A34-903E-0A81192BB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238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 i="0">
                <a:solidFill>
                  <a:srgbClr val="8492A0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8492A0"/>
                </a:solidFill>
                <a:latin typeface="Arial"/>
                <a:ea typeface="Arial"/>
                <a:cs typeface="Arial"/>
              </a:rPr>
              <a:t>RESUMEN EJECUTIVO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A35C9D-4A5B-47B5-AA4B-2FC80BDC4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201275"/>
            <a:ext cx="6267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6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F365C7-052B-46F9-8C3B-9F1F13B7F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296525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 i="0">
                <a:solidFill>
                  <a:srgbClr val="8492A0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8492A0"/>
                </a:solidFill>
                <a:latin typeface="Arial"/>
                <a:ea typeface="Arial"/>
                <a:cs typeface="Arial"/>
              </a:rPr>
              <a:t>Planta Bayona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B2908A-EFCC-4708-AEB9-3920E1BD7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029652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0" i="0">
                <a:solidFill>
                  <a:srgbClr val="8492A0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8492A0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5C2A71-FA52-4931-971B-0E48D056F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23900"/>
            <a:ext cx="6267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2476D0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2476D0"/>
                </a:solidFill>
                <a:latin typeface="Arial"/>
                <a:ea typeface="Arial"/>
                <a:cs typeface="Arial"/>
              </a:rPr>
              <a:t>RESUMEN EJECUTIVO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3749E9-EB8E-4FC6-AB11-6F330F281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47750"/>
            <a:ext cx="62674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925" b="1" i="0">
                <a:solidFill>
                  <a:srgbClr val="0B2533"/>
                </a:solidFill>
                <a:latin typeface="Arial"/>
                <a:ea typeface="Arial"/>
                <a:cs typeface="Arial"/>
              </a:defRPr>
            </a:pPr>
            <a:r>
              <a:rPr sz="2925" b="1" i="0">
                <a:solidFill>
                  <a:srgbClr val="0B2533"/>
                </a:solidFill>
                <a:latin typeface="Arial"/>
                <a:ea typeface="Arial"/>
                <a:cs typeface="Arial"/>
              </a:rPr>
              <a:t>Una sola trazabilidad desde la línea hasta bodega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D2A08F-8DC7-407F-A464-D62436EA8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52650"/>
            <a:ext cx="62674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 i="0">
                <a:solidFill>
                  <a:srgbClr val="586675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86675"/>
                </a:solidFill>
                <a:latin typeface="Arial"/>
                <a:ea typeface="Arial"/>
                <a:cs typeface="Arial"/>
              </a:rPr>
              <a:t>La aplicación conecta el estado físico de cada módulo con sus materiales, pruebas eléctricas, protocolos y costos asociados.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322C03-E07B-490C-9D74-8CB3B2BDA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00375"/>
            <a:ext cx="29527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8EEE8"/>
          </a:solidFill>
          <a:ln xmlns:a="http://schemas.openxmlformats.org/drawingml/2006/main" w="9525">
            <a:solidFill>
              <a:srgbClr val="E7D4C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3CAA17-68DE-4C9A-8DD4-F1B5EBB8A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00375"/>
            <a:ext cx="47625" cy="2476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D67535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59274E-A83A-4966-A708-7B7702299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90875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 i="0">
                <a:solidFill>
                  <a:srgbClr val="0B2533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B2533"/>
                </a:solidFill>
                <a:latin typeface="Arial"/>
                <a:ea typeface="Arial"/>
                <a:cs typeface="Arial"/>
              </a:rPr>
              <a:t>Antes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3DE5FC-431E-4F54-9D5A-6FA60DBE5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14750"/>
            <a:ext cx="76200" cy="76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4B51D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25BC92-7D08-4801-941E-1860F0615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38550"/>
            <a:ext cx="23622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7202A"/>
                </a:solidFill>
                <a:latin typeface="Arial"/>
                <a:ea typeface="Arial"/>
                <a:cs typeface="Arial"/>
              </a:rPr>
              <a:t>Estado de módulos disperso entre personas y registros.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6029C0-748B-44E9-AE5F-3ADCCED9D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62425"/>
            <a:ext cx="76200" cy="76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4B51D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50B7D8-2529-4C9C-8893-A880B1842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86225"/>
            <a:ext cx="23622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7202A"/>
                </a:solidFill>
                <a:latin typeface="Arial"/>
                <a:ea typeface="Arial"/>
                <a:cs typeface="Arial"/>
              </a:rPr>
              <a:t>Solicitudes de material sin una trazabilidad uniforme.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67FB44-C646-4377-B48F-07B2BFA00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10100"/>
            <a:ext cx="76200" cy="76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4B51D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C58FC8-FB4F-4B04-8AD1-19571E2A6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533900"/>
            <a:ext cx="23622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7202A"/>
                </a:solidFill>
                <a:latin typeface="Arial"/>
                <a:ea typeface="Arial"/>
                <a:cs typeface="Arial"/>
              </a:rPr>
              <a:t>Protocolos y costos revisados en etapas separadas.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CF1DC0D-70CB-4FF1-8C00-3925A55CE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57775"/>
            <a:ext cx="76200" cy="76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4B51D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5154E4A-56F5-47A4-801C-E44251CF3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981575"/>
            <a:ext cx="23622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7202A"/>
                </a:solidFill>
                <a:latin typeface="Arial"/>
                <a:ea typeface="Arial"/>
                <a:cs typeface="Arial"/>
              </a:rPr>
              <a:t>Dificultad para detectar diferencias entre retiro y cobro.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78A666F-FA9B-4625-829C-21852AF67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000375"/>
            <a:ext cx="29527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7F7EF"/>
          </a:solidFill>
          <a:ln xmlns:a="http://schemas.openxmlformats.org/drawingml/2006/main" w="9525">
            <a:solidFill>
              <a:srgbClr val="C5E9D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B55709A-0E96-4C2F-974B-15D710D65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000375"/>
            <a:ext cx="47625" cy="2476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98B55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357ECCA-7A0C-48D3-BBCC-142BCA731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190875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 i="0">
                <a:solidFill>
                  <a:srgbClr val="0B2533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B2533"/>
                </a:solidFill>
                <a:latin typeface="Arial"/>
                <a:ea typeface="Arial"/>
                <a:cs typeface="Arial"/>
              </a:rPr>
              <a:t>Con Control Modular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2C37F06-DA08-47D5-A692-E1453CFE5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714750"/>
            <a:ext cx="76200" cy="76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29D878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42421F5-62AE-4418-A798-65DEFDA57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638550"/>
            <a:ext cx="23622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7202A"/>
                </a:solidFill>
                <a:latin typeface="Arial"/>
                <a:ea typeface="Arial"/>
                <a:cs typeface="Arial"/>
              </a:rPr>
              <a:t>Estado por serie y línea visible en tiempo real.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2C9B54D-30DA-4749-81BA-F65FF8474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162425"/>
            <a:ext cx="76200" cy="76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29D878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7658FC0-F707-41ED-B508-2050FF1F6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086225"/>
            <a:ext cx="23622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7202A"/>
                </a:solidFill>
                <a:latin typeface="Arial"/>
                <a:ea typeface="Arial"/>
                <a:cs typeface="Arial"/>
              </a:rPr>
              <a:t>Pedidos de bodega ligados al módulo y al responsable.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B6D5E8C-1DAA-4AE8-8864-C09733D47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610100"/>
            <a:ext cx="76200" cy="76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29D878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880CAE5-5857-4046-ADFA-4ED748E29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533900"/>
            <a:ext cx="23622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7202A"/>
                </a:solidFill>
                <a:latin typeface="Arial"/>
                <a:ea typeface="Arial"/>
                <a:cs typeface="Arial"/>
              </a:rPr>
              <a:t>Protocolos con detalle de materiales y valores.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030DF29-5E12-4905-85E1-0A9A34B1F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5057775"/>
            <a:ext cx="76200" cy="76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29D878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38D507D-3518-4127-9A9A-E3820FDE5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981575"/>
            <a:ext cx="23622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7202A"/>
                </a:solidFill>
                <a:latin typeface="Arial"/>
                <a:ea typeface="Arial"/>
                <a:cs typeface="Arial"/>
              </a:rPr>
              <a:t>Balances que comparan cantidades retiradas y cobradas.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C253BAC-5AAE-45BB-BCDF-37C9F168B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57875"/>
            <a:ext cx="1866900" cy="11430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7E0E6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34B955F-72FC-4D86-A8D1-9ADA93537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72175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 i="0">
                <a:solidFill>
                  <a:srgbClr val="F4B51D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4B51D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490B3B8-AE4D-4A0D-A272-D0B17D7DA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267450"/>
            <a:ext cx="1600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i="0">
                <a:solidFill>
                  <a:srgbClr val="0B2533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0B2533"/>
                </a:solidFill>
                <a:latin typeface="Arial"/>
                <a:ea typeface="Arial"/>
                <a:cs typeface="Arial"/>
              </a:rPr>
              <a:t>Trazabilidad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4ED85D9-438A-4CF5-BC1C-61A9B24CD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543675"/>
            <a:ext cx="1600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586675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86675"/>
                </a:solidFill>
                <a:latin typeface="Arial"/>
                <a:ea typeface="Arial"/>
                <a:cs typeface="Arial"/>
              </a:rPr>
              <a:t>Cada serie conserva su historia y responsables.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E584977-932A-4278-9EDE-31B5642CC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5857875"/>
            <a:ext cx="1866900" cy="11430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7E0E6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27CDF6E-8CA7-454C-BCAD-916DA4648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5972175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 i="0">
                <a:solidFill>
                  <a:srgbClr val="F4B51D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4B51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E03F566-9691-41D0-A206-ABA48B30E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6267450"/>
            <a:ext cx="1600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i="0">
                <a:solidFill>
                  <a:srgbClr val="0B2533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0B2533"/>
                </a:solidFill>
                <a:latin typeface="Arial"/>
                <a:ea typeface="Arial"/>
                <a:cs typeface="Arial"/>
              </a:rPr>
              <a:t>Control operativo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89F0944-C77C-4E57-BFB2-7E010A1B6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6543675"/>
            <a:ext cx="1600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586675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86675"/>
                </a:solidFill>
                <a:latin typeface="Arial"/>
                <a:ea typeface="Arial"/>
                <a:cs typeface="Arial"/>
              </a:rPr>
              <a:t>Las líneas muestran estados y trabajos pendientes.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6B6CF1C-2074-4374-9DE6-87871DD38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857875"/>
            <a:ext cx="1866900" cy="11430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7E0E6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AE7F926-B371-4BE1-9B99-0D2F6DB67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972175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 i="0">
                <a:solidFill>
                  <a:srgbClr val="F4B51D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4B51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1248A97-83A4-410B-9216-8A9FEC068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6267450"/>
            <a:ext cx="1600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i="0">
                <a:solidFill>
                  <a:srgbClr val="0B2533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0B2533"/>
                </a:solidFill>
                <a:latin typeface="Arial"/>
                <a:ea typeface="Arial"/>
                <a:cs typeface="Arial"/>
              </a:rPr>
              <a:t>Bodega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07AB9B6-28DD-4EF6-86EF-210FBCEA2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6543675"/>
            <a:ext cx="1600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586675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86675"/>
                </a:solidFill>
                <a:latin typeface="Arial"/>
                <a:ea typeface="Arial"/>
                <a:cs typeface="Arial"/>
              </a:rPr>
              <a:t>Pedidos, devoluciones e inventario quedan vinculados.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0DAFC02-CA15-45D6-8674-BDBF50752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239000"/>
            <a:ext cx="1866900" cy="11430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7E0E6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470B8D3-384A-4FE3-BE8F-255AA3058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3533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 i="0">
                <a:solidFill>
                  <a:srgbClr val="F4B51D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4B51D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E0E693D-1155-44D9-B4CB-DED44A0A2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648575"/>
            <a:ext cx="1600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i="0">
                <a:solidFill>
                  <a:srgbClr val="0B2533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0B2533"/>
                </a:solidFill>
                <a:latin typeface="Arial"/>
                <a:ea typeface="Arial"/>
                <a:cs typeface="Arial"/>
              </a:rPr>
              <a:t>Control de costos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BFFB294-68C3-4AEC-883A-A7C3E8BA1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924800"/>
            <a:ext cx="1600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586675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86675"/>
                </a:solidFill>
                <a:latin typeface="Arial"/>
                <a:ea typeface="Arial"/>
                <a:cs typeface="Arial"/>
              </a:rPr>
              <a:t>Protocolos y balances permiten revisar diferencias.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830C23F-231E-4F1F-8625-90B3558CA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7239000"/>
            <a:ext cx="1866900" cy="11430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7E0E6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1FA53E9-89DC-4E15-B367-29682E204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73533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 i="0">
                <a:solidFill>
                  <a:srgbClr val="F4B51D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4B51D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6CFBB41-6A74-4B9E-B6A8-3DFE83CA1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7648575"/>
            <a:ext cx="1600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i="0">
                <a:solidFill>
                  <a:srgbClr val="0B2533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0B2533"/>
                </a:solidFill>
                <a:latin typeface="Arial"/>
                <a:ea typeface="Arial"/>
                <a:cs typeface="Arial"/>
              </a:rPr>
              <a:t>Acceso por rol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77494BA-C48D-49B0-99F1-605D68A74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7924800"/>
            <a:ext cx="1600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586675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86675"/>
                </a:solidFill>
                <a:latin typeface="Arial"/>
                <a:ea typeface="Arial"/>
                <a:cs typeface="Arial"/>
              </a:rPr>
              <a:t>Cada usuario ve las acciones que le corresponden.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B41F398-FEEB-4155-9EED-A71FAA92A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7239000"/>
            <a:ext cx="1866900" cy="11430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7E0E6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4F8A354-A44E-4AA1-9CF6-34A6092BA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73533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 i="0">
                <a:solidFill>
                  <a:srgbClr val="F4B51D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4B51D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6572903-4CB1-4A09-91EC-666B114DA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7648575"/>
            <a:ext cx="1600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i="0">
                <a:solidFill>
                  <a:srgbClr val="0B2533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0B2533"/>
                </a:solidFill>
                <a:latin typeface="Arial"/>
                <a:ea typeface="Arial"/>
                <a:cs typeface="Arial"/>
              </a:rPr>
              <a:t>Uso en terreno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0D279BA-B0F5-43DC-823E-8A063CCC8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7924800"/>
            <a:ext cx="1600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586675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86675"/>
                </a:solidFill>
                <a:latin typeface="Arial"/>
                <a:ea typeface="Arial"/>
                <a:cs typeface="Arial"/>
              </a:rPr>
              <a:t>La interfaz funciona en computador y teléfono.</a:t>
            </a:r>
          </a:p>
        </p:txBody>
      </p:sp>
    </p:spTree>
    <p:extLst>
      <p:ext uri="{BB962C8B-B14F-4D97-AF65-F5344CB8AC3E}">
        <p14:creationId xmlns:p14="http://schemas.microsoft.com/office/powerpoint/2010/main" val="67348090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A7935A2-873E-4A15-B544-8CECDC47F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 i="0">
                <a:solidFill>
                  <a:srgbClr val="8492A0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8492A0"/>
                </a:solidFill>
                <a:latin typeface="Arial"/>
                <a:ea typeface="Arial"/>
                <a:cs typeface="Arial"/>
              </a:rPr>
              <a:t>CONTROL MODULAR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8B4393-FFE6-4ACF-A8D7-BAFDB5802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238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 i="0">
                <a:solidFill>
                  <a:srgbClr val="8492A0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8492A0"/>
                </a:solidFill>
                <a:latin typeface="Arial"/>
                <a:ea typeface="Arial"/>
                <a:cs typeface="Arial"/>
              </a:rPr>
              <a:t>CÓMO FUNCIONA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D55E9B-EBA0-40CB-877C-D24F4E8E0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201275"/>
            <a:ext cx="6267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6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5CD048-7D40-4F90-B506-A27F52BBC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296525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 i="0">
                <a:solidFill>
                  <a:srgbClr val="8492A0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8492A0"/>
                </a:solidFill>
                <a:latin typeface="Arial"/>
                <a:ea typeface="Arial"/>
                <a:cs typeface="Arial"/>
              </a:rPr>
              <a:t>Planta Bayona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9669DD-14BA-47F4-BECD-455105FB0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029652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0" i="0">
                <a:solidFill>
                  <a:srgbClr val="8492A0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8492A0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A9BC60-2073-46AD-8A74-B0CA89274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23900"/>
            <a:ext cx="6267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2476D0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2476D0"/>
                </a:solidFill>
                <a:latin typeface="Arial"/>
                <a:ea typeface="Arial"/>
                <a:cs typeface="Arial"/>
              </a:rPr>
              <a:t>CÓMO FUNCIONA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91B0F1-3747-42C5-81B7-53414FBA4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47750"/>
            <a:ext cx="62674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225" b="1" i="0">
                <a:solidFill>
                  <a:srgbClr val="0B2533"/>
                </a:solidFill>
                <a:latin typeface="Arial"/>
                <a:ea typeface="Arial"/>
                <a:cs typeface="Arial"/>
              </a:defRPr>
            </a:pPr>
            <a:r>
              <a:rPr sz="3225" b="1" i="0">
                <a:solidFill>
                  <a:srgbClr val="0B2533"/>
                </a:solidFill>
                <a:latin typeface="Arial"/>
                <a:ea typeface="Arial"/>
                <a:cs typeface="Arial"/>
              </a:rPr>
              <a:t>Un flujo operativo conectado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E06321-7018-4E7C-8E90-28EA905CE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52650"/>
            <a:ext cx="62674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 i="0">
                <a:solidFill>
                  <a:srgbClr val="586675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86675"/>
                </a:solidFill>
                <a:latin typeface="Arial"/>
                <a:ea typeface="Arial"/>
                <a:cs typeface="Arial"/>
              </a:rPr>
              <a:t>Cada acción queda asociada a una serie, una línea, una persona y una fecha.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B36F9A-4F59-40FC-84FD-ADEA08EC0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0"/>
            <a:ext cx="1066800" cy="1952625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EF3F6"/>
          </a:solidFill>
          <a:ln xmlns:a="http://schemas.openxmlformats.org/drawingml/2006/main" w="9525">
            <a:solidFill>
              <a:srgbClr val="D7E0E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59C9FA-A2E9-4509-B2E4-22EBF1B1A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2533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B139C6-676B-4436-9822-627720A3C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FCD504-A65D-4513-BFFF-CF5E0077D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448050"/>
            <a:ext cx="85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 i="0">
                <a:solidFill>
                  <a:srgbClr val="0B2533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B2533"/>
                </a:solidFill>
                <a:latin typeface="Arial"/>
                <a:ea typeface="Arial"/>
                <a:cs typeface="Arial"/>
              </a:rPr>
              <a:t>Ingreso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5CE755-BC11-46F7-A4DB-C6BE6AB47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848100"/>
            <a:ext cx="857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 i="0">
                <a:solidFill>
                  <a:srgbClr val="586675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586675"/>
                </a:solidFill>
                <a:latin typeface="Arial"/>
                <a:ea typeface="Arial"/>
                <a:cs typeface="Arial"/>
              </a:rPr>
              <a:t>Se registra la serie y se asigna a una línea.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0494A1-DCBE-44CB-A44F-F98406069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524250"/>
            <a:ext cx="171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 i="0">
                <a:solidFill>
                  <a:srgbClr val="F4B51D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F4B51D"/>
                </a:solidFill>
                <a:latin typeface="Arial"/>
                <a:ea typeface="Arial"/>
                <a:cs typeface="Arial"/>
              </a:rPr>
              <a:t>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37E08B-3F99-4EEC-80F9-B2C2124C8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857500"/>
            <a:ext cx="1066800" cy="1952625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EF3F6"/>
          </a:solidFill>
          <a:ln xmlns:a="http://schemas.openxmlformats.org/drawingml/2006/main" w="9525">
            <a:solidFill>
              <a:srgbClr val="D7E0E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E64C18-FDF2-43E9-925E-193B4DA8D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300990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2533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B45FA20-F235-48D6-848D-D49E1E5BD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30099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5D5FAB-9A6B-452A-8E71-68B69B8EA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3448050"/>
            <a:ext cx="85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 i="0">
                <a:solidFill>
                  <a:srgbClr val="0B2533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B2533"/>
                </a:solidFill>
                <a:latin typeface="Arial"/>
                <a:ea typeface="Arial"/>
                <a:cs typeface="Arial"/>
              </a:rPr>
              <a:t>Mantención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CEA85C-CCF0-402A-A5A0-76F1C6056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3848100"/>
            <a:ext cx="857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 i="0">
                <a:solidFill>
                  <a:srgbClr val="586675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586675"/>
                </a:solidFill>
                <a:latin typeface="Arial"/>
                <a:ea typeface="Arial"/>
                <a:cs typeface="Arial"/>
              </a:rPr>
              <a:t>El equipo registra notas y solicita materiales.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0003E5E-F078-4A43-9880-2693149F6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524250"/>
            <a:ext cx="171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 i="0">
                <a:solidFill>
                  <a:srgbClr val="F4B51D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F4B51D"/>
                </a:solidFill>
                <a:latin typeface="Arial"/>
                <a:ea typeface="Arial"/>
                <a:cs typeface="Arial"/>
              </a:rPr>
              <a:t>&gt;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6F3681B-89A2-450D-B8B0-D2A61459B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857500"/>
            <a:ext cx="1066800" cy="1952625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EF3F6"/>
          </a:solidFill>
          <a:ln xmlns:a="http://schemas.openxmlformats.org/drawingml/2006/main" w="9525">
            <a:solidFill>
              <a:srgbClr val="D7E0E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987454A-F461-4D88-9308-49FDD885C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00990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2533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3BB25EE-DCEE-49A9-B3F5-AD0A48871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0099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C8A654B-705B-4A4F-854E-96B6224A0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3448050"/>
            <a:ext cx="85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 i="0">
                <a:solidFill>
                  <a:srgbClr val="0B2533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B2533"/>
                </a:solidFill>
                <a:latin typeface="Arial"/>
                <a:ea typeface="Arial"/>
                <a:cs typeface="Arial"/>
              </a:rPr>
              <a:t>Bodega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CACB5F8-2CD0-41F5-B92A-BFEEA0C0A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3848100"/>
            <a:ext cx="857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 i="0">
                <a:solidFill>
                  <a:srgbClr val="586675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586675"/>
                </a:solidFill>
                <a:latin typeface="Arial"/>
                <a:ea typeface="Arial"/>
                <a:cs typeface="Arial"/>
              </a:rPr>
              <a:t>El pedido se aprueba, prepara y entrega.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E782DBB-15B4-4B3B-9775-5982D4A3E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524250"/>
            <a:ext cx="171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 i="0">
                <a:solidFill>
                  <a:srgbClr val="F4B51D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F4B51D"/>
                </a:solidFill>
                <a:latin typeface="Arial"/>
                <a:ea typeface="Arial"/>
                <a:cs typeface="Arial"/>
              </a:rPr>
              <a:t>&gt;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C12CCBF-3DC3-4D99-B57A-3A8B6C693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857500"/>
            <a:ext cx="1066800" cy="1952625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EF3F6"/>
          </a:solidFill>
          <a:ln xmlns:a="http://schemas.openxmlformats.org/drawingml/2006/main" w="9525">
            <a:solidFill>
              <a:srgbClr val="D7E0E6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2739301-3AFE-4D15-AB1D-5EBD6E68B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00990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2533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AA131A3-DFD7-4A67-ADF5-D58FEF683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0099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43964D0-32A6-4C27-A328-67C8FF7D8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448050"/>
            <a:ext cx="85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 i="0">
                <a:solidFill>
                  <a:srgbClr val="0B2533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B2533"/>
                </a:solidFill>
                <a:latin typeface="Arial"/>
                <a:ea typeface="Arial"/>
                <a:cs typeface="Arial"/>
              </a:rPr>
              <a:t>Prueba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BB55FC0-875E-4199-986C-FD813B782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848100"/>
            <a:ext cx="857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 i="0">
                <a:solidFill>
                  <a:srgbClr val="586675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586675"/>
                </a:solidFill>
                <a:latin typeface="Arial"/>
                <a:ea typeface="Arial"/>
                <a:cs typeface="Arial"/>
              </a:rPr>
              <a:t>La prueba eléctrica actualiza el estado del módulo.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FFBA02D-1D2C-459A-A0A1-AFEFF3BD9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524250"/>
            <a:ext cx="171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 i="0">
                <a:solidFill>
                  <a:srgbClr val="F4B51D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F4B51D"/>
                </a:solidFill>
                <a:latin typeface="Arial"/>
                <a:ea typeface="Arial"/>
                <a:cs typeface="Arial"/>
              </a:rPr>
              <a:t>&gt;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DAF98FE-16C2-4F15-A8DC-F93BE21EA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857500"/>
            <a:ext cx="1066800" cy="1952625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7F7EF"/>
          </a:solidFill>
          <a:ln xmlns:a="http://schemas.openxmlformats.org/drawingml/2006/main" w="9525">
            <a:solidFill>
              <a:srgbClr val="D7E0E6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15E7E31-96B8-4315-B7CA-15244A09D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00990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2533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DADA0A5-4536-4023-A1D2-D0A76FD32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0099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C417242-19DD-4B00-BE7C-B13232032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3448050"/>
            <a:ext cx="85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 i="0">
                <a:solidFill>
                  <a:srgbClr val="0B2533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B2533"/>
                </a:solidFill>
                <a:latin typeface="Arial"/>
                <a:ea typeface="Arial"/>
                <a:cs typeface="Arial"/>
              </a:rPr>
              <a:t>Protocolo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7D2F75E-66CC-4318-A818-C89D9D42E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3848100"/>
            <a:ext cx="857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 i="0">
                <a:solidFill>
                  <a:srgbClr val="586675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586675"/>
                </a:solidFill>
                <a:latin typeface="Arial"/>
                <a:ea typeface="Arial"/>
                <a:cs typeface="Arial"/>
              </a:rPr>
              <a:t>Materiales, valores e historial quedan disponibles.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F7F9A88-3814-45B1-8810-BD6A684D1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95875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 i="0">
                <a:solidFill>
                  <a:srgbClr val="0B2533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0B2533"/>
                </a:solidFill>
                <a:latin typeface="Arial"/>
                <a:ea typeface="Arial"/>
                <a:cs typeface="Arial"/>
              </a:rPr>
              <a:t>Roles del sistema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56BFD26-2E9A-4BC1-93FB-B39808B2B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24500"/>
            <a:ext cx="62674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533"/>
          </a:solidFill>
          <a:ln xmlns:a="http://schemas.openxmlformats.org/drawingml/2006/main" w="0">
            <a:noFill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DA948DD-471E-4D21-B34E-B4A5FE973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24500"/>
            <a:ext cx="1285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ROL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2D33ACB-C380-4FE1-899F-5D5C43D35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5524500"/>
            <a:ext cx="4667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RESPONSABILIDAD PRINCIPAL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54B8852-6A0C-4ED1-B02F-55D5393DB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62650"/>
            <a:ext cx="62674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6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3417763-85BD-4BFE-9E63-69CC22C80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62650"/>
            <a:ext cx="12858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0B2533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0B2533"/>
                </a:solidFill>
                <a:latin typeface="Arial"/>
                <a:ea typeface="Arial"/>
                <a:cs typeface="Arial"/>
              </a:rPr>
              <a:t>Administrador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047DED6-81A2-4E2B-A156-A6F131635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6048375"/>
            <a:ext cx="466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 i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7202A"/>
                </a:solidFill>
                <a:latin typeface="Arial"/>
                <a:ea typeface="Arial"/>
                <a:cs typeface="Arial"/>
              </a:rPr>
              <a:t>Configura usuarios, permisos, catálogos y revisa toda la operación.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698A036-DA3B-4FCB-92E9-54CEB13DD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10350"/>
            <a:ext cx="62674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7E0E6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AAFDD80-4344-40FB-9FDD-93E322978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610350"/>
            <a:ext cx="12858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0B2533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0B2533"/>
                </a:solidFill>
                <a:latin typeface="Arial"/>
                <a:ea typeface="Arial"/>
                <a:cs typeface="Arial"/>
              </a:rPr>
              <a:t>Operador / eléctrico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E408F1E-5ADD-443A-9833-DD792400B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6696075"/>
            <a:ext cx="466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 i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7202A"/>
                </a:solidFill>
                <a:latin typeface="Arial"/>
                <a:ea typeface="Arial"/>
                <a:cs typeface="Arial"/>
              </a:rPr>
              <a:t>Actualiza módulos, solicita materiales y registra pruebas o protocolos según permiso.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E1B9B52-5941-4AC5-8530-A78693014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258050"/>
            <a:ext cx="62674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6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F6CCC8E-46F1-4C8F-80D2-608F33990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258050"/>
            <a:ext cx="12858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0B2533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0B2533"/>
                </a:solidFill>
                <a:latin typeface="Arial"/>
                <a:ea typeface="Arial"/>
                <a:cs typeface="Arial"/>
              </a:rPr>
              <a:t>Bodega / analista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307F048-7AA1-4479-952E-318BF3E26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7343775"/>
            <a:ext cx="466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 i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7202A"/>
                </a:solidFill>
                <a:latin typeface="Arial"/>
                <a:ea typeface="Arial"/>
                <a:cs typeface="Arial"/>
              </a:rPr>
              <a:t>Recibe avisos, gestiona pedidos, inventario, vales y devoluciones.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610BEDF-5ECA-4383-9E39-01CEB4C0A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905750"/>
            <a:ext cx="62674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7E0E6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D9C4010-20A3-4B91-878A-BB0B603CE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05750"/>
            <a:ext cx="12858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0B2533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0B2533"/>
                </a:solidFill>
                <a:latin typeface="Arial"/>
                <a:ea typeface="Arial"/>
                <a:cs typeface="Arial"/>
              </a:rPr>
              <a:t>Jefatura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1369C89-5411-4792-83BC-95650F87A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7991475"/>
            <a:ext cx="466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 i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7202A"/>
                </a:solidFill>
                <a:latin typeface="Arial"/>
                <a:ea typeface="Arial"/>
                <a:cs typeface="Arial"/>
              </a:rPr>
              <a:t>Consulta indicadores, balances, auditoría e historial por serie.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AF5ED4A-49F3-481A-97D9-B55414415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858250"/>
            <a:ext cx="62674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8F2FD"/>
          </a:solidFill>
          <a:ln xmlns:a="http://schemas.openxmlformats.org/drawingml/2006/main" w="0">
            <a:noFill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923BE2A-3B4F-4144-8AC0-BD69A8267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0106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 i="0">
                <a:solidFill>
                  <a:srgbClr val="0B2533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0B2533"/>
                </a:solidFill>
                <a:latin typeface="Arial"/>
                <a:ea typeface="Arial"/>
                <a:cs typeface="Arial"/>
              </a:rPr>
              <a:t>Datos conectados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E3D684E-21FB-4B91-BF32-C1423082F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334500"/>
            <a:ext cx="5924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 i="0">
                <a:solidFill>
                  <a:srgbClr val="586675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86675"/>
                </a:solidFill>
                <a:latin typeface="Arial"/>
                <a:ea typeface="Arial"/>
                <a:cs typeface="Arial"/>
              </a:rPr>
              <a:t>Supabase centraliza la información y los permisos. La aplicación permite exportar listados e inventario cuando el equipo necesita trabajar en Excel.</a:t>
            </a:r>
          </a:p>
        </p:txBody>
      </p:sp>
    </p:spTree>
    <p:extLst>
      <p:ext uri="{BB962C8B-B14F-4D97-AF65-F5344CB8AC3E}">
        <p14:creationId xmlns:p14="http://schemas.microsoft.com/office/powerpoint/2010/main" val="183581728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D01CF6-4750-485C-ADCC-DBC7837E0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 i="0">
                <a:solidFill>
                  <a:srgbClr val="8492A0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8492A0"/>
                </a:solidFill>
                <a:latin typeface="Arial"/>
                <a:ea typeface="Arial"/>
                <a:cs typeface="Arial"/>
              </a:rPr>
              <a:t>CONTROL MODULAR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5DB9A2-AE71-43CA-B42E-2E8D31195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238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 i="0">
                <a:solidFill>
                  <a:srgbClr val="8492A0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8492A0"/>
                </a:solidFill>
                <a:latin typeface="Arial"/>
                <a:ea typeface="Arial"/>
                <a:cs typeface="Arial"/>
              </a:rPr>
              <a:t>CONTROL DE MÓDULOS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F3CA64-AA86-495E-B271-C51047A90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201275"/>
            <a:ext cx="6267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6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A8970C-8B27-479B-8D42-D17D0A852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296525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 i="0">
                <a:solidFill>
                  <a:srgbClr val="8492A0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8492A0"/>
                </a:solidFill>
                <a:latin typeface="Arial"/>
                <a:ea typeface="Arial"/>
                <a:cs typeface="Arial"/>
              </a:rPr>
              <a:t>Planta Bayona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D05111-10E7-49E4-B791-6DE1D45C4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029652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0" i="0">
                <a:solidFill>
                  <a:srgbClr val="8492A0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8492A0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E70F53-80F5-47DD-AAA2-849368C31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23900"/>
            <a:ext cx="6267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2476D0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2476D0"/>
                </a:solidFill>
                <a:latin typeface="Arial"/>
                <a:ea typeface="Arial"/>
                <a:cs typeface="Arial"/>
              </a:rPr>
              <a:t>CONTROL DE MÓDULOS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764886-FC78-4E6C-BADB-C398F58B7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47750"/>
            <a:ext cx="62674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075" b="1" i="0">
                <a:solidFill>
                  <a:srgbClr val="0B2533"/>
                </a:solidFill>
                <a:latin typeface="Arial"/>
                <a:ea typeface="Arial"/>
                <a:cs typeface="Arial"/>
              </a:defRPr>
            </a:pPr>
            <a:r>
              <a:rPr sz="3075" b="1" i="0">
                <a:solidFill>
                  <a:srgbClr val="0B2533"/>
                </a:solidFill>
                <a:latin typeface="Arial"/>
                <a:ea typeface="Arial"/>
                <a:cs typeface="Arial"/>
              </a:rPr>
              <a:t>El estado de cada serie queda visible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345632-4D8D-4875-89E4-3E14131D0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52650"/>
            <a:ext cx="62674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 i="0">
                <a:solidFill>
                  <a:srgbClr val="586675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86675"/>
                </a:solidFill>
                <a:latin typeface="Arial"/>
                <a:ea typeface="Arial"/>
                <a:cs typeface="Arial"/>
              </a:rPr>
              <a:t>Las tarjetas permiten reconocer rápidamente qué módulos están disponibles, pendientes, en mantención o con una alerta.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2102EC-F71F-4763-83E7-95F854299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0"/>
            <a:ext cx="6267450" cy="4048125"/>
          </a:xfrm>
          <a:prstGeom xmlns:a="http://schemas.openxmlformats.org/drawingml/2006/main" prst="roundRect">
            <a:avLst>
              <a:gd name="adj" fmla="val 3294"/>
            </a:avLst>
          </a:prstGeom>
          <a:solidFill xmlns:a="http://schemas.openxmlformats.org/drawingml/2006/main">
            <a:srgbClr val="0B25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19b0ff96c04fd9"/>
          <a:srcRect xmlns:a="http://schemas.openxmlformats.org/drawingml/2006/main" l="1000" t="4000" r="1000" b="5000"/>
          <a:stretch xmlns:a="http://schemas.openxmlformats.org/drawingml/2006/main"/>
        </p:blipFill>
        <p:spPr>
          <a:xfrm xmlns:a="http://schemas.openxmlformats.org/drawingml/2006/main">
            <a:off x="762000" y="2971800"/>
            <a:ext cx="6038850" cy="3819525"/>
          </a:xfrm>
          <a:prstGeom xmlns:a="http://schemas.openxmlformats.org/drawingml/2006/main" prst="roundRect">
            <a:avLst>
              <a:gd name="adj" fmla="val 2494"/>
            </a:avLst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283D06-B98A-4616-8DC2-3AAB8D32E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000875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0" i="1">
                <a:solidFill>
                  <a:srgbClr val="8492A0"/>
                </a:solidFill>
                <a:latin typeface="Arial"/>
                <a:ea typeface="Arial"/>
                <a:cs typeface="Arial"/>
              </a:defRPr>
            </a:pPr>
            <a:r>
              <a:rPr sz="900" b="0" i="1">
                <a:solidFill>
                  <a:srgbClr val="8492A0"/>
                </a:solidFill>
                <a:latin typeface="Arial"/>
                <a:ea typeface="Arial"/>
                <a:cs typeface="Arial"/>
              </a:rPr>
              <a:t>Vista de líneas y estados por módulo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709C90-7EBE-40D1-988F-44FB2A181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600950"/>
            <a:ext cx="76200" cy="76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31D6D1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09ADAD-017E-464E-9692-214C5C38D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524750"/>
            <a:ext cx="60769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202A"/>
                </a:solidFill>
                <a:latin typeface="Arial"/>
                <a:ea typeface="Arial"/>
                <a:cs typeface="Arial"/>
              </a:rPr>
              <a:t>Lectura inmediata: </a:t>
            </a:r>
            <a:r>
              <a:rPr sz="1275">
                <a:solidFill>
                  <a:srgbClr val="17202A"/>
                </a:solidFill>
                <a:latin typeface="Arial"/>
                <a:ea typeface="Arial"/>
                <a:cs typeface="Arial"/>
              </a:rPr>
              <a:t>color e ícono distinguen prueba aprobada, mantención, alerta y módulo sin iniciar.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FF76E8-4705-4D71-9CE8-A780C4D48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210550"/>
            <a:ext cx="76200" cy="76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31D6D1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67A067-AAC1-410B-AA3F-7E1AF5A98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134350"/>
            <a:ext cx="60769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202A"/>
                </a:solidFill>
                <a:latin typeface="Arial"/>
                <a:ea typeface="Arial"/>
                <a:cs typeface="Arial"/>
              </a:rPr>
              <a:t>Historial por serie: </a:t>
            </a:r>
            <a:r>
              <a:rPr sz="1275">
                <a:solidFill>
                  <a:srgbClr val="17202A"/>
                </a:solidFill>
                <a:latin typeface="Arial"/>
                <a:ea typeface="Arial"/>
                <a:cs typeface="Arial"/>
              </a:rPr>
              <a:t>la búsqueda reúne movimientos, notas y pruebas eléctricas anteriores.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DBBA07-A9F2-4704-AB9E-2367624AC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820150"/>
            <a:ext cx="76200" cy="76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31D6D1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40D227-E951-4113-8392-BB3D14376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743950"/>
            <a:ext cx="60769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202A"/>
                </a:solidFill>
                <a:latin typeface="Arial"/>
                <a:ea typeface="Arial"/>
                <a:cs typeface="Arial"/>
              </a:rPr>
              <a:t>Garantía automática: </a:t>
            </a:r>
            <a:r>
              <a:rPr sz="1275">
                <a:solidFill>
                  <a:srgbClr val="17202A"/>
                </a:solidFill>
                <a:latin typeface="Arial"/>
                <a:ea typeface="Arial"/>
                <a:cs typeface="Arial"/>
              </a:rPr>
              <a:t>al ingresar una serie, el sistema revisa pruebas eléctricas de los últimos tres meses y conserva la fecha anterior cuando corresponde.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943AEE-A946-4A97-9E4E-AF4A1E5D5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429750"/>
            <a:ext cx="76200" cy="76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31D6D1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7CD82AA-0246-4183-BD70-865926436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353550"/>
            <a:ext cx="60769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202A"/>
                </a:solidFill>
                <a:latin typeface="Arial"/>
                <a:ea typeface="Arial"/>
                <a:cs typeface="Arial"/>
              </a:rPr>
              <a:t>Acciones controladas: </a:t>
            </a:r>
            <a:r>
              <a:rPr sz="1275">
                <a:solidFill>
                  <a:srgbClr val="17202A"/>
                </a:solidFill>
                <a:latin typeface="Arial"/>
                <a:ea typeface="Arial"/>
                <a:cs typeface="Arial"/>
              </a:rPr>
              <a:t>guardar nota, solicitar material y solicitar prueba dependen del rol del usuario.</a:t>
            </a:r>
          </a:p>
        </p:txBody>
      </p:sp>
    </p:spTree>
    <p:extLst>
      <p:ext uri="{BB962C8B-B14F-4D97-AF65-F5344CB8AC3E}">
        <p14:creationId xmlns:p14="http://schemas.microsoft.com/office/powerpoint/2010/main" val="30104848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C66702E-B746-476E-97DF-31F39D6A5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 i="0">
                <a:solidFill>
                  <a:srgbClr val="8492A0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8492A0"/>
                </a:solidFill>
                <a:latin typeface="Arial"/>
                <a:ea typeface="Arial"/>
                <a:cs typeface="Arial"/>
              </a:rPr>
              <a:t>CONTROL MODULAR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D55865-C731-4349-8CF3-3847C787D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238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 i="0">
                <a:solidFill>
                  <a:srgbClr val="8492A0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8492A0"/>
                </a:solidFill>
                <a:latin typeface="Arial"/>
                <a:ea typeface="Arial"/>
                <a:cs typeface="Arial"/>
              </a:rPr>
              <a:t>PROTOCOLOS Y COSTOS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DAAACD-6ADC-4AA5-8F73-2CC4794E7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201275"/>
            <a:ext cx="6267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6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07128D-30C4-4709-9562-2014B5770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296525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 i="0">
                <a:solidFill>
                  <a:srgbClr val="8492A0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8492A0"/>
                </a:solidFill>
                <a:latin typeface="Arial"/>
                <a:ea typeface="Arial"/>
                <a:cs typeface="Arial"/>
              </a:rPr>
              <a:t>Planta Bayona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EB2E7F-3F48-4A30-BDDB-4C5FC9D44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029652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0" i="0">
                <a:solidFill>
                  <a:srgbClr val="8492A0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8492A0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656ED5-2FB2-402C-BEA7-C613C05BB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23900"/>
            <a:ext cx="6267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2476D0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2476D0"/>
                </a:solidFill>
                <a:latin typeface="Arial"/>
                <a:ea typeface="Arial"/>
                <a:cs typeface="Arial"/>
              </a:rPr>
              <a:t>PROTOCOLOS Y COSTOS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14C688-934E-41F4-8C0E-7434A0E04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47750"/>
            <a:ext cx="62674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075" b="1" i="0">
                <a:solidFill>
                  <a:srgbClr val="0B2533"/>
                </a:solidFill>
                <a:latin typeface="Arial"/>
                <a:ea typeface="Arial"/>
                <a:cs typeface="Arial"/>
              </a:defRPr>
            </a:pPr>
            <a:r>
              <a:rPr sz="3075" b="1" i="0">
                <a:solidFill>
                  <a:srgbClr val="0B2533"/>
                </a:solidFill>
                <a:latin typeface="Arial"/>
                <a:ea typeface="Arial"/>
                <a:cs typeface="Arial"/>
              </a:rPr>
              <a:t>Cada cobro conserva su detalle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FC4DA7-684C-4EE1-8130-8199EB88B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52650"/>
            <a:ext cx="62674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 i="0">
                <a:solidFill>
                  <a:srgbClr val="586675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86675"/>
                </a:solidFill>
                <a:latin typeface="Arial"/>
                <a:ea typeface="Arial"/>
                <a:cs typeface="Arial"/>
              </a:rPr>
              <a:t>Los protocolos mensuales muestran la serie, fecha, tipo de módulo, valores, orden de trabajo y materiales registrados.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FF8CC2-EF84-4D1C-866A-EFF78AF45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19400"/>
            <a:ext cx="6267450" cy="4476750"/>
          </a:xfrm>
          <a:prstGeom xmlns:a="http://schemas.openxmlformats.org/drawingml/2006/main" prst="roundRect">
            <a:avLst>
              <a:gd name="adj" fmla="val 2979"/>
            </a:avLst>
          </a:prstGeom>
          <a:solidFill xmlns:a="http://schemas.openxmlformats.org/drawingml/2006/main">
            <a:srgbClr val="0B25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f40feaef1e488a"/>
          <a:srcRect xmlns:a="http://schemas.openxmlformats.org/drawingml/2006/main" l="12000" t="2000" r="2000" b="3000"/>
          <a:stretch xmlns:a="http://schemas.openxmlformats.org/drawingml/2006/main"/>
        </p:blipFill>
        <p:spPr>
          <a:xfrm xmlns:a="http://schemas.openxmlformats.org/drawingml/2006/main">
            <a:off x="762000" y="2933700"/>
            <a:ext cx="6038850" cy="4248150"/>
          </a:xfrm>
          <a:prstGeom xmlns:a="http://schemas.openxmlformats.org/drawingml/2006/main" prst="roundRect">
            <a:avLst>
              <a:gd name="adj" fmla="val 2242"/>
            </a:avLst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9680B2-8DBE-4FFD-AD21-685EDCCF6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39140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0" i="1">
                <a:solidFill>
                  <a:srgbClr val="8492A0"/>
                </a:solidFill>
                <a:latin typeface="Arial"/>
                <a:ea typeface="Arial"/>
                <a:cs typeface="Arial"/>
              </a:defRPr>
            </a:pPr>
            <a:r>
              <a:rPr sz="900" b="0" i="1">
                <a:solidFill>
                  <a:srgbClr val="8492A0"/>
                </a:solidFill>
                <a:latin typeface="Arial"/>
                <a:ea typeface="Arial"/>
                <a:cs typeface="Arial"/>
              </a:rPr>
              <a:t>Protocolos mensuales con filtros, serie, valores e ID de orden de trabajo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568831-E640-4937-B6FD-F5DBD68F9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86700"/>
            <a:ext cx="2905125" cy="838200"/>
          </a:xfrm>
          <a:prstGeom xmlns:a="http://schemas.openxmlformats.org/drawingml/2006/main" prst="roundRect">
            <a:avLst>
              <a:gd name="adj" fmla="val 11364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7E0E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DBAE67-521B-4AC3-99E2-7DE312D01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001000"/>
            <a:ext cx="2619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0B2533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B2533"/>
                </a:solidFill>
                <a:latin typeface="Arial"/>
                <a:ea typeface="Arial"/>
                <a:cs typeface="Arial"/>
              </a:rPr>
              <a:t>Detalle editable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5D2245-AC4A-4307-8D70-A71993152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258175"/>
            <a:ext cx="26193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 i="0">
                <a:solidFill>
                  <a:srgbClr val="586675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86675"/>
                </a:solidFill>
                <a:latin typeface="Arial"/>
                <a:ea typeface="Arial"/>
                <a:cs typeface="Arial"/>
              </a:rPr>
              <a:t>Cada protocolo conserva mano de obra, materiales, cantidades y precios aplicados.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167E72-E4DC-4A44-80EE-E6EA05E0A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7886700"/>
            <a:ext cx="2905125" cy="838200"/>
          </a:xfrm>
          <a:prstGeom xmlns:a="http://schemas.openxmlformats.org/drawingml/2006/main" prst="roundRect">
            <a:avLst>
              <a:gd name="adj" fmla="val 11364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7E0E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377E89-C886-4CCC-879E-AB9C3BAE1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8001000"/>
            <a:ext cx="2619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0B2533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B2533"/>
                </a:solidFill>
                <a:latin typeface="Arial"/>
                <a:ea typeface="Arial"/>
                <a:cs typeface="Arial"/>
              </a:rPr>
              <a:t>Exportación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8841C9-DB85-49D7-A059-4D8858206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8258175"/>
            <a:ext cx="26193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 i="0">
                <a:solidFill>
                  <a:srgbClr val="586675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86675"/>
                </a:solidFill>
                <a:latin typeface="Arial"/>
                <a:ea typeface="Arial"/>
                <a:cs typeface="Arial"/>
              </a:rPr>
              <a:t>El listado de pruebas eléctricas puede filtrarse por fecha y exportarse.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27A9D45-FF2C-4560-AED6-B3B40B90C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877300"/>
            <a:ext cx="2905125" cy="838200"/>
          </a:xfrm>
          <a:prstGeom xmlns:a="http://schemas.openxmlformats.org/drawingml/2006/main" prst="roundRect">
            <a:avLst>
              <a:gd name="adj" fmla="val 11364"/>
            </a:avLst>
          </a:prstGeom>
          <a:solidFill xmlns:a="http://schemas.openxmlformats.org/drawingml/2006/main">
            <a:srgbClr val="E7F7EF"/>
          </a:solidFill>
          <a:ln xmlns:a="http://schemas.openxmlformats.org/drawingml/2006/main" w="9525">
            <a:solidFill>
              <a:srgbClr val="D7E0E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87FB83F-BA93-40A4-979C-92004D937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991600"/>
            <a:ext cx="2619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0B2533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B2533"/>
                </a:solidFill>
                <a:latin typeface="Arial"/>
                <a:ea typeface="Arial"/>
                <a:cs typeface="Arial"/>
              </a:rPr>
              <a:t>Garantía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8B6ECA1-8EFC-4701-B084-286755991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248775"/>
            <a:ext cx="26193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 i="0">
                <a:solidFill>
                  <a:srgbClr val="586675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86675"/>
                </a:solidFill>
                <a:latin typeface="Arial"/>
                <a:ea typeface="Arial"/>
                <a:cs typeface="Arial"/>
              </a:rPr>
              <a:t>La fecha de una prueba anterior acompaña al módulo cuando reingresa dentro del período definido.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3464D72-365C-4855-B104-14F489D19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8877300"/>
            <a:ext cx="2905125" cy="838200"/>
          </a:xfrm>
          <a:prstGeom xmlns:a="http://schemas.openxmlformats.org/drawingml/2006/main" prst="roundRect">
            <a:avLst>
              <a:gd name="adj" fmla="val 11364"/>
            </a:avLst>
          </a:prstGeom>
          <a:solidFill xmlns:a="http://schemas.openxmlformats.org/drawingml/2006/main">
            <a:srgbClr val="E7F7EF"/>
          </a:solidFill>
          <a:ln xmlns:a="http://schemas.openxmlformats.org/drawingml/2006/main" w="9525">
            <a:solidFill>
              <a:srgbClr val="D7E0E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284CA76-86CC-4F9E-BCBD-13D676A70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8991600"/>
            <a:ext cx="2619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0B2533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B2533"/>
                </a:solidFill>
                <a:latin typeface="Arial"/>
                <a:ea typeface="Arial"/>
                <a:cs typeface="Arial"/>
              </a:rPr>
              <a:t>Seguimiento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7F59F5C-D5D4-449E-AD00-2E66992D5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9248775"/>
            <a:ext cx="26193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 i="0">
                <a:solidFill>
                  <a:srgbClr val="586675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86675"/>
                </a:solidFill>
                <a:latin typeface="Arial"/>
                <a:ea typeface="Arial"/>
                <a:cs typeface="Arial"/>
              </a:rPr>
              <a:t>Las diferencias entre material retirado y protocolizado quedan disponibles para revisión.</a:t>
            </a:r>
          </a:p>
        </p:txBody>
      </p:sp>
    </p:spTree>
    <p:extLst>
      <p:ext uri="{BB962C8B-B14F-4D97-AF65-F5344CB8AC3E}">
        <p14:creationId xmlns:p14="http://schemas.microsoft.com/office/powerpoint/2010/main" val="36139873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010BFB4-452C-4E70-BEF2-109AA0E84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 i="0">
                <a:solidFill>
                  <a:srgbClr val="8492A0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8492A0"/>
                </a:solidFill>
                <a:latin typeface="Arial"/>
                <a:ea typeface="Arial"/>
                <a:cs typeface="Arial"/>
              </a:rPr>
              <a:t>CONTROL MODULAR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426EA7-326B-46D8-89A9-3B7957688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238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 i="0">
                <a:solidFill>
                  <a:srgbClr val="8492A0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8492A0"/>
                </a:solidFill>
                <a:latin typeface="Arial"/>
                <a:ea typeface="Arial"/>
                <a:cs typeface="Arial"/>
              </a:rPr>
              <a:t>BODEGA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D74EFB-0023-4042-9F20-4A4E24EFA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201275"/>
            <a:ext cx="6267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6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427C30-DC6F-4295-87B3-FF3323AA3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296525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 i="0">
                <a:solidFill>
                  <a:srgbClr val="8492A0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8492A0"/>
                </a:solidFill>
                <a:latin typeface="Arial"/>
                <a:ea typeface="Arial"/>
                <a:cs typeface="Arial"/>
              </a:rPr>
              <a:t>Planta Bayona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F20A17-4186-4518-9675-682725792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029652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0" i="0">
                <a:solidFill>
                  <a:srgbClr val="8492A0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8492A0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8FC980-992A-4967-AB91-8C53BD59C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23900"/>
            <a:ext cx="6267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2476D0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2476D0"/>
                </a:solidFill>
                <a:latin typeface="Arial"/>
                <a:ea typeface="Arial"/>
                <a:cs typeface="Arial"/>
              </a:rPr>
              <a:t>BODEGA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A06C38-B701-4418-AF51-5D6FDED30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47750"/>
            <a:ext cx="62674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075" b="1" i="0">
                <a:solidFill>
                  <a:srgbClr val="0B2533"/>
                </a:solidFill>
                <a:latin typeface="Arial"/>
                <a:ea typeface="Arial"/>
                <a:cs typeface="Arial"/>
              </a:defRPr>
            </a:pPr>
            <a:r>
              <a:rPr sz="3075" b="1" i="0">
                <a:solidFill>
                  <a:srgbClr val="0B2533"/>
                </a:solidFill>
                <a:latin typeface="Arial"/>
                <a:ea typeface="Arial"/>
                <a:cs typeface="Arial"/>
              </a:rPr>
              <a:t>Pedidos e inventario en el mismo flujo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9CBF44-CD53-4927-8361-698CF174C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52650"/>
            <a:ext cx="62674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 i="0">
                <a:solidFill>
                  <a:srgbClr val="586675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86675"/>
                </a:solidFill>
                <a:latin typeface="Arial"/>
                <a:ea typeface="Arial"/>
                <a:cs typeface="Arial"/>
              </a:rPr>
              <a:t>La vista de bodega recibe solicitudes, controla entregas y devoluciones, y mantiene el historial de cada vale.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4DB517-5CAD-4518-A75E-1917DAA76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00350"/>
            <a:ext cx="4333875" cy="3429000"/>
          </a:xfrm>
          <a:prstGeom xmlns:a="http://schemas.openxmlformats.org/drawingml/2006/main" prst="roundRect">
            <a:avLst>
              <a:gd name="adj" fmla="val 3889"/>
            </a:avLst>
          </a:prstGeom>
          <a:solidFill xmlns:a="http://schemas.openxmlformats.org/drawingml/2006/main">
            <a:srgbClr val="0B25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ad75b126c946e6"/>
          <a:srcRect xmlns:a="http://schemas.openxmlformats.org/drawingml/2006/main" l="12000" t="2000" r="1000" b="5000"/>
          <a:stretch xmlns:a="http://schemas.openxmlformats.org/drawingml/2006/main"/>
        </p:blipFill>
        <p:spPr>
          <a:xfrm xmlns:a="http://schemas.openxmlformats.org/drawingml/2006/main">
            <a:off x="742950" y="2895600"/>
            <a:ext cx="4143375" cy="3238500"/>
          </a:xfrm>
          <a:prstGeom xmlns:a="http://schemas.openxmlformats.org/drawingml/2006/main" prst="roundRect">
            <a:avLst>
              <a:gd name="adj" fmla="val 2941"/>
            </a:avLst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92A205-C995-41D7-A7D4-BA4E1E69D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800350"/>
            <a:ext cx="1724025" cy="3429000"/>
          </a:xfrm>
          <a:prstGeom xmlns:a="http://schemas.openxmlformats.org/drawingml/2006/main" prst="roundRect">
            <a:avLst>
              <a:gd name="adj" fmla="val 7735"/>
            </a:avLst>
          </a:prstGeom>
          <a:solidFill xmlns:a="http://schemas.openxmlformats.org/drawingml/2006/main">
            <a:srgbClr val="EEF3F6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fe7444ad6b42b3"/>
          <a:srcRect xmlns:a="http://schemas.openxmlformats.org/drawingml/2006/main" l="1000" t="5000" r="1000" b="39000"/>
          <a:stretch xmlns:a="http://schemas.openxmlformats.org/drawingml/2006/main"/>
        </p:blipFill>
        <p:spPr>
          <a:xfrm xmlns:a="http://schemas.openxmlformats.org/drawingml/2006/main">
            <a:off x="5286375" y="2895600"/>
            <a:ext cx="1533525" cy="3238500"/>
          </a:xfrm>
          <a:prstGeom xmlns:a="http://schemas.openxmlformats.org/drawingml/2006/main" prst="roundRect">
            <a:avLst>
              <a:gd name="adj" fmla="val 6211"/>
            </a:avLst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4677C3-130D-4ECD-971D-A249A7F81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246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0" i="1">
                <a:solidFill>
                  <a:srgbClr val="8492A0"/>
                </a:solidFill>
                <a:latin typeface="Arial"/>
                <a:ea typeface="Arial"/>
                <a:cs typeface="Arial"/>
              </a:defRPr>
            </a:pPr>
            <a:r>
              <a:rPr sz="900" b="0" i="1">
                <a:solidFill>
                  <a:srgbClr val="8492A0"/>
                </a:solidFill>
                <a:latin typeface="Arial"/>
                <a:ea typeface="Arial"/>
                <a:cs typeface="Arial"/>
              </a:rPr>
              <a:t>Escritorio y teléfono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127B0D-D784-4648-9239-7AF61FAC0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972300"/>
            <a:ext cx="76200" cy="76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2476D0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B528B7-4725-4F3C-B3C0-C4BD42E52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896100"/>
            <a:ext cx="60769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202A"/>
                </a:solidFill>
                <a:latin typeface="Arial"/>
                <a:ea typeface="Arial"/>
                <a:cs typeface="Arial"/>
              </a:rPr>
              <a:t>Solicitud asociada: </a:t>
            </a:r>
            <a:r>
              <a:rPr sz="1275">
                <a:solidFill>
                  <a:srgbClr val="17202A"/>
                </a:solidFill>
                <a:latin typeface="Arial"/>
                <a:ea typeface="Arial"/>
                <a:cs typeface="Arial"/>
              </a:rPr>
              <a:t>cada pedido mantiene proyecto, módulo, serie, responsable y materiales.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141848-FC6E-4604-9372-8A1EB1C57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524750"/>
            <a:ext cx="76200" cy="76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2476D0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B8F6EE-0DB5-4356-9ECA-FF593A92A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448550"/>
            <a:ext cx="60769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202A"/>
                </a:solidFill>
                <a:latin typeface="Arial"/>
                <a:ea typeface="Arial"/>
                <a:cs typeface="Arial"/>
              </a:rPr>
              <a:t>Aprobación identificada: </a:t>
            </a:r>
            <a:r>
              <a:rPr sz="1275">
                <a:solidFill>
                  <a:srgbClr val="17202A"/>
                </a:solidFill>
                <a:latin typeface="Arial"/>
                <a:ea typeface="Arial"/>
                <a:cs typeface="Arial"/>
              </a:rPr>
              <a:t>el vale muestra quién autorizó la entrega y quién recibió.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8A4F9F-15C0-4974-9A12-3D9A5553F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077200"/>
            <a:ext cx="76200" cy="76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2476D0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ED9691A-BD79-4D57-BB51-3FFB1319A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001000"/>
            <a:ext cx="60769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202A"/>
                </a:solidFill>
                <a:latin typeface="Arial"/>
                <a:ea typeface="Arial"/>
                <a:cs typeface="Arial"/>
              </a:rPr>
              <a:t>Inventario operativo: </a:t>
            </a:r>
            <a:r>
              <a:rPr sz="1275">
                <a:solidFill>
                  <a:srgbClr val="17202A"/>
                </a:solidFill>
                <a:latin typeface="Arial"/>
                <a:ea typeface="Arial"/>
                <a:cs typeface="Arial"/>
              </a:rPr>
              <a:t>entradas, salidas y saldo final se consultan desde la misma vista.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2EB3DB6-6352-493F-AA26-6CFA4BA76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629650"/>
            <a:ext cx="76200" cy="76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2476D0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7BB8D78-3AB8-410F-92C5-A8F9DD6A3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553450"/>
            <a:ext cx="60769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202A"/>
                </a:solidFill>
                <a:latin typeface="Arial"/>
                <a:ea typeface="Arial"/>
                <a:cs typeface="Arial"/>
              </a:rPr>
              <a:t>Herramientas de bodega: </a:t>
            </a:r>
            <a:r>
              <a:rPr sz="1275">
                <a:solidFill>
                  <a:srgbClr val="17202A"/>
                </a:solidFill>
                <a:latin typeface="Arial"/>
                <a:ea typeface="Arial"/>
                <a:cs typeface="Arial"/>
              </a:rPr>
              <a:t>carga de inventario, exportación, historial de vales y códigos de barra.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BA98A8C-D159-47E4-94D8-A4779864C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182100"/>
            <a:ext cx="76200" cy="76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2476D0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DE9C866-B35C-4463-8E2D-1223DC657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105900"/>
            <a:ext cx="60769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202A"/>
                </a:solidFill>
                <a:latin typeface="Arial"/>
                <a:ea typeface="Arial"/>
                <a:cs typeface="Arial"/>
              </a:rPr>
              <a:t>Notificaciones por rol: </a:t>
            </a:r>
            <a:r>
              <a:rPr sz="1275">
                <a:solidFill>
                  <a:srgbClr val="17202A"/>
                </a:solidFill>
                <a:latin typeface="Arial"/>
                <a:ea typeface="Arial"/>
                <a:cs typeface="Arial"/>
              </a:rPr>
              <a:t>bodega y analistas reciben los avisos que corresponden a sus permisos.</a:t>
            </a:r>
          </a:p>
        </p:txBody>
      </p:sp>
    </p:spTree>
    <p:extLst>
      <p:ext uri="{BB962C8B-B14F-4D97-AF65-F5344CB8AC3E}">
        <p14:creationId xmlns:p14="http://schemas.microsoft.com/office/powerpoint/2010/main" val="99338559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B430E26-BD65-4161-92BC-8DF07FD67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 i="0">
                <a:solidFill>
                  <a:srgbClr val="8492A0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8492A0"/>
                </a:solidFill>
                <a:latin typeface="Arial"/>
                <a:ea typeface="Arial"/>
                <a:cs typeface="Arial"/>
              </a:rPr>
              <a:t>CONTROL MODULAR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1D4857-8D81-436E-A080-1945A954A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238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 i="0">
                <a:solidFill>
                  <a:srgbClr val="8492A0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8492A0"/>
                </a:solidFill>
                <a:latin typeface="Arial"/>
                <a:ea typeface="Arial"/>
                <a:cs typeface="Arial"/>
              </a:rPr>
              <a:t>GESTIÓN Y CONTROL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6BC46D-A11A-4682-825C-833B775E7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201275"/>
            <a:ext cx="6267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6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71F37C-B176-4EE1-BC06-10F77AAD8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296525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 i="0">
                <a:solidFill>
                  <a:srgbClr val="8492A0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8492A0"/>
                </a:solidFill>
                <a:latin typeface="Arial"/>
                <a:ea typeface="Arial"/>
                <a:cs typeface="Arial"/>
              </a:rPr>
              <a:t>Planta Bayona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65AFF0-34DF-49EF-AAA3-9EC2A5E70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029652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0" i="0">
                <a:solidFill>
                  <a:srgbClr val="8492A0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8492A0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AF4023-68B6-404E-8FC1-7D81EBCBD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23900"/>
            <a:ext cx="6267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2476D0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2476D0"/>
                </a:solidFill>
                <a:latin typeface="Arial"/>
                <a:ea typeface="Arial"/>
                <a:cs typeface="Arial"/>
              </a:rPr>
              <a:t>GESTIÓN Y CONTROL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312FA7-61DF-4104-9DA0-BE1B5DDDE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47750"/>
            <a:ext cx="62674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925" b="1" i="0">
                <a:solidFill>
                  <a:srgbClr val="0B2533"/>
                </a:solidFill>
                <a:latin typeface="Arial"/>
                <a:ea typeface="Arial"/>
                <a:cs typeface="Arial"/>
              </a:defRPr>
            </a:pPr>
            <a:r>
              <a:rPr sz="2925" b="1" i="0">
                <a:solidFill>
                  <a:srgbClr val="0B2533"/>
                </a:solidFill>
                <a:latin typeface="Arial"/>
                <a:ea typeface="Arial"/>
                <a:cs typeface="Arial"/>
              </a:rPr>
              <a:t>Los datos permiten revisar diferencias antes del cierre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08F55C-9AC9-4557-B7F2-D441BEDB8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52650"/>
            <a:ext cx="62674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 i="0">
                <a:solidFill>
                  <a:srgbClr val="586675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86675"/>
                </a:solidFill>
                <a:latin typeface="Arial"/>
                <a:ea typeface="Arial"/>
                <a:cs typeface="Arial"/>
              </a:rPr>
              <a:t>Los balances comparan cantidades retiradas y protocolizadas, y ayudan a enfocar la revisión donde existe una desviación.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840BD4-3EB4-407A-9B13-DD5412255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19400"/>
            <a:ext cx="6267450" cy="3143250"/>
          </a:xfrm>
          <a:prstGeom xmlns:a="http://schemas.openxmlformats.org/drawingml/2006/main" prst="roundRect">
            <a:avLst>
              <a:gd name="adj" fmla="val 4242"/>
            </a:avLst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0210c747bd498b"/>
          <a:srcRect xmlns:a="http://schemas.openxmlformats.org/drawingml/2006/main" l="1000" t="0" r="1000" b="0"/>
          <a:stretch xmlns:a="http://schemas.openxmlformats.org/drawingml/2006/main"/>
        </p:blipFill>
        <p:spPr>
          <a:xfrm xmlns:a="http://schemas.openxmlformats.org/drawingml/2006/main">
            <a:off x="762000" y="2933700"/>
            <a:ext cx="6038850" cy="2914650"/>
          </a:xfrm>
          <a:prstGeom xmlns:a="http://schemas.openxmlformats.org/drawingml/2006/main" prst="roundRect">
            <a:avLst>
              <a:gd name="adj" fmla="val 3268"/>
            </a:avLst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9CCA25-24F7-4EBC-AC81-0752BFD6A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286500"/>
            <a:ext cx="1381125" cy="10668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7E0E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C4519A-B7E3-45E2-A4B7-EC4879C84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29375"/>
            <a:ext cx="1152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2476D0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2476D0"/>
                </a:solidFill>
                <a:latin typeface="Arial"/>
                <a:ea typeface="Arial"/>
                <a:cs typeface="Arial"/>
              </a:rPr>
              <a:t>RETIRO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6F3D96-A428-4A95-8D94-E90959696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734175"/>
            <a:ext cx="11525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 i="0">
                <a:solidFill>
                  <a:srgbClr val="586675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86675"/>
                </a:solidFill>
                <a:latin typeface="Arial"/>
                <a:ea typeface="Arial"/>
                <a:cs typeface="Arial"/>
              </a:rPr>
              <a:t>Cantidad informada por bodega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703249-38BA-40C9-AAD3-DC671EC9F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325" y="6286500"/>
            <a:ext cx="1381125" cy="10668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7E0E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4CA7C7-A30D-4FCB-8CE6-8646E72A2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6429375"/>
            <a:ext cx="1152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2476D0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2476D0"/>
                </a:solidFill>
                <a:latin typeface="Arial"/>
                <a:ea typeface="Arial"/>
                <a:cs typeface="Arial"/>
              </a:rPr>
              <a:t>COBRO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3EE80B-1A54-43D3-B954-9CA9B47F1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6734175"/>
            <a:ext cx="11525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 i="0">
                <a:solidFill>
                  <a:srgbClr val="586675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86675"/>
                </a:solidFill>
                <a:latin typeface="Arial"/>
                <a:ea typeface="Arial"/>
                <a:cs typeface="Arial"/>
              </a:rPr>
              <a:t>Cantidad registrada en protocolos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F9AFB3-53EA-4890-956B-D8B8DA64F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6286500"/>
            <a:ext cx="1381125" cy="10668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FF6DC"/>
          </a:solidFill>
          <a:ln xmlns:a="http://schemas.openxmlformats.org/drawingml/2006/main" w="9525">
            <a:solidFill>
              <a:srgbClr val="D7E0E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70F1FE-B009-4DDC-8C61-02DB9CBAC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6429375"/>
            <a:ext cx="1152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A86900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A86900"/>
                </a:solidFill>
                <a:latin typeface="Arial"/>
                <a:ea typeface="Arial"/>
                <a:cs typeface="Arial"/>
              </a:rPr>
              <a:t>DIFERENCIA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1D8444-F393-458A-8BEC-41B63A0C5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6734175"/>
            <a:ext cx="11525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 i="0">
                <a:solidFill>
                  <a:srgbClr val="586675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86675"/>
                </a:solidFill>
                <a:latin typeface="Arial"/>
                <a:ea typeface="Arial"/>
                <a:cs typeface="Arial"/>
              </a:rPr>
              <a:t>Unidades que requieren revisión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9E7A700-4AAC-41A8-BCB4-8FDCC311D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6286500"/>
            <a:ext cx="1381125" cy="10668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7E0E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90B0495-749A-4025-B5EA-F1EB38272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6429375"/>
            <a:ext cx="1152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2476D0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2476D0"/>
                </a:solidFill>
                <a:latin typeface="Arial"/>
                <a:ea typeface="Arial"/>
                <a:cs typeface="Arial"/>
              </a:rPr>
              <a:t>IMPACTO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F0DEC46-A9DB-4FD3-A3C6-6604947C3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6734175"/>
            <a:ext cx="11525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 i="0">
                <a:solidFill>
                  <a:srgbClr val="586675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86675"/>
                </a:solidFill>
                <a:latin typeface="Arial"/>
                <a:ea typeface="Arial"/>
                <a:cs typeface="Arial"/>
              </a:rPr>
              <a:t>Valor asociado a la desviación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76C8F11-BF9E-4D17-A595-D925AC0BD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 i="0">
                <a:solidFill>
                  <a:srgbClr val="0B2533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0B2533"/>
                </a:solidFill>
                <a:latin typeface="Arial"/>
                <a:ea typeface="Arial"/>
                <a:cs typeface="Arial"/>
              </a:rPr>
              <a:t>Siguiente etapa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DA1523A-D4AF-43B7-A7EE-730E9E072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324850"/>
            <a:ext cx="76200" cy="76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31D6D1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4D0DC1C-B725-42D8-8CB2-A54A97968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248650"/>
            <a:ext cx="607695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202A"/>
                </a:solidFill>
                <a:latin typeface="Arial"/>
                <a:ea typeface="Arial"/>
                <a:cs typeface="Arial"/>
              </a:rPr>
              <a:t>Publicación: </a:t>
            </a:r>
            <a:r>
              <a:rPr sz="1275">
                <a:solidFill>
                  <a:srgbClr val="17202A"/>
                </a:solidFill>
                <a:latin typeface="Arial"/>
                <a:ea typeface="Arial"/>
                <a:cs typeface="Arial"/>
              </a:rPr>
              <a:t>alojar la aplicación en un dominio propio con certificados y respaldos definidos.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3E171A7-7CCA-42F3-BD2F-168053DED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924925"/>
            <a:ext cx="76200" cy="76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31D6D1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7D21030-4879-4378-A269-5C1CAB4BE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848725"/>
            <a:ext cx="607695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202A"/>
                </a:solidFill>
                <a:latin typeface="Arial"/>
                <a:ea typeface="Arial"/>
                <a:cs typeface="Arial"/>
              </a:rPr>
              <a:t>Integración: </a:t>
            </a:r>
            <a:r>
              <a:rPr sz="1275">
                <a:solidFill>
                  <a:srgbClr val="17202A"/>
                </a:solidFill>
                <a:latin typeface="Arial"/>
                <a:ea typeface="Arial"/>
                <a:cs typeface="Arial"/>
              </a:rPr>
              <a:t>evaluar intercambio de datos con Unisoft mediante archivos, API o una capa intermedia.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B03A9D2-4723-4D26-BD96-4BE92A13A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525000"/>
            <a:ext cx="76200" cy="76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31D6D1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677C76E-0134-4ABA-ACA1-30BC55AF8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448800"/>
            <a:ext cx="607695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202A"/>
                </a:solidFill>
                <a:latin typeface="Arial"/>
                <a:ea typeface="Arial"/>
                <a:cs typeface="Arial"/>
              </a:rPr>
              <a:t>Gobierno de datos: </a:t>
            </a:r>
            <a:r>
              <a:rPr sz="1275">
                <a:solidFill>
                  <a:srgbClr val="17202A"/>
                </a:solidFill>
                <a:latin typeface="Arial"/>
                <a:ea typeface="Arial"/>
                <a:cs typeface="Arial"/>
              </a:rPr>
              <a:t>formalizar responsables, revisiones periódicas y criterios para corregir diferencias.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A3E8083-53D6-4A76-AA35-971992ABC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829800"/>
            <a:ext cx="6267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 i="1">
                <a:solidFill>
                  <a:srgbClr val="8492A0"/>
                </a:solidFill>
                <a:latin typeface="Arial"/>
                <a:ea typeface="Arial"/>
                <a:cs typeface="Arial"/>
              </a:defRPr>
            </a:pPr>
            <a:r>
              <a:rPr sz="975" b="0" i="1">
                <a:solidFill>
                  <a:srgbClr val="8492A0"/>
                </a:solidFill>
                <a:latin typeface="Arial"/>
                <a:ea typeface="Arial"/>
                <a:cs typeface="Arial"/>
              </a:rPr>
              <a:t>El balance depende del registro correcto de cada retiro y protocolo.</a:t>
            </a:r>
          </a:p>
        </p:txBody>
      </p:sp>
    </p:spTree>
    <p:extLst>
      <p:ext uri="{BB962C8B-B14F-4D97-AF65-F5344CB8AC3E}">
        <p14:creationId xmlns:p14="http://schemas.microsoft.com/office/powerpoint/2010/main" val="16067566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2026-09-29T18:08:54.1020000Z</dcterms:created>
  <dcterms:modified xsi:type="dcterms:W3CDTF">2026-09-29T18:08:54.1020000Z</dcterms:modified>
</coreProperties>
</file>