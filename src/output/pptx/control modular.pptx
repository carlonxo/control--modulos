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562850" cy="10696575"/>
  <p:notesSz cx="7099300" cy="10234613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259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Diseño inspirado en el documento de referencia entregado por el usuario. Captura de la aplicación Control Modular.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8CC1BDC-3882-4BF0-A47D-4F15BE74B7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562850" cy="7334250"/>
          </a:xfrm>
          <a:prstGeom prst="rect">
            <a:avLst/>
          </a:prstGeom>
          <a:solidFill>
            <a:srgbClr val="0B2533"/>
          </a:solidFill>
          <a:ln w="0">
            <a:noFill/>
          </a:ln>
        </p:spPr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AD86567-140E-4758-8ADC-04B024EA627E}"/>
              </a:ext>
            </a:extLst>
          </p:cNvPr>
          <p:cNvSpPr>
            <a:spLocks noGrp="1"/>
          </p:cNvSpPr>
          <p:nvPr/>
        </p:nvSpPr>
        <p:spPr>
          <a:xfrm>
            <a:off x="647700" y="76200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31D6D1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8931F01-ADD4-4B4F-AC0B-660A818451D1}"/>
              </a:ext>
            </a:extLst>
          </p:cNvPr>
          <p:cNvSpPr>
            <a:spLocks noGrp="1"/>
          </p:cNvSpPr>
          <p:nvPr/>
        </p:nvSpPr>
        <p:spPr>
          <a:xfrm>
            <a:off x="647700" y="76200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CM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9CF0ADA-6978-4423-B51E-F0216168DBD4}"/>
              </a:ext>
            </a:extLst>
          </p:cNvPr>
          <p:cNvSpPr>
            <a:spLocks noGrp="1"/>
          </p:cNvSpPr>
          <p:nvPr/>
        </p:nvSpPr>
        <p:spPr>
          <a:xfrm>
            <a:off x="647700" y="203835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PRESENTACIÓN A GERENCIA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2693FF-5348-4653-81F7-D4F13579604F}"/>
              </a:ext>
            </a:extLst>
          </p:cNvPr>
          <p:cNvSpPr>
            <a:spLocks noGrp="1"/>
          </p:cNvSpPr>
          <p:nvPr/>
        </p:nvSpPr>
        <p:spPr>
          <a:xfrm>
            <a:off x="647700" y="2381250"/>
            <a:ext cx="619125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8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</a:p>
          <a:p>
            <a:pPr algn="l">
              <a:lnSpc>
                <a:spcPct val="8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7E84671-66A3-4F64-9F93-3B491B9FCD0E}"/>
              </a:ext>
            </a:extLst>
          </p:cNvPr>
          <p:cNvSpPr>
            <a:spLocks noGrp="1"/>
          </p:cNvSpPr>
          <p:nvPr/>
        </p:nvSpPr>
        <p:spPr>
          <a:xfrm>
            <a:off x="647700" y="3981450"/>
            <a:ext cx="5905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5000"/>
              </a:lnSpc>
              <a:buNone/>
              <a:defRPr sz="1575" b="0" i="0">
                <a:solidFill>
                  <a:srgbClr val="C9D8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9D8DF"/>
                </a:solidFill>
                <a:latin typeface="Arial"/>
                <a:ea typeface="Arial"/>
                <a:cs typeface="Arial"/>
              </a:rPr>
              <a:t>Gestión integral de módulos, protocolos, mantención y bodega en una sola aplicación.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F284661-BC67-44B1-ACCF-84500A172B95}"/>
              </a:ext>
            </a:extLst>
          </p:cNvPr>
          <p:cNvSpPr>
            <a:spLocks noGrp="1"/>
          </p:cNvSpPr>
          <p:nvPr/>
        </p:nvSpPr>
        <p:spPr>
          <a:xfrm>
            <a:off x="1581150" y="5334000"/>
            <a:ext cx="5334000" cy="3200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3"/>
          <a:srcRect l="12000" b="9000"/>
          <a:stretch/>
        </p:blipFill>
        <p:spPr>
          <a:xfrm>
            <a:off x="1676400" y="5429250"/>
            <a:ext cx="5143500" cy="3009900"/>
          </a:xfrm>
          <a:prstGeom prst="roundRect">
            <a:avLst>
              <a:gd name="adj" fmla="val 3165"/>
            </a:avLst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5A78A342-32E8-4692-B245-A7E26C872BE6}"/>
              </a:ext>
            </a:extLst>
          </p:cNvPr>
          <p:cNvSpPr>
            <a:spLocks noGrp="1"/>
          </p:cNvSpPr>
          <p:nvPr/>
        </p:nvSpPr>
        <p:spPr>
          <a:xfrm>
            <a:off x="647700" y="8991600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52FA2B8-91DA-4852-BCE6-EBD8E5B866D7}"/>
              </a:ext>
            </a:extLst>
          </p:cNvPr>
          <p:cNvSpPr>
            <a:spLocks noGrp="1"/>
          </p:cNvSpPr>
          <p:nvPr/>
        </p:nvSpPr>
        <p:spPr>
          <a:xfrm>
            <a:off x="647700" y="92583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54E953D-9AA6-4A84-8D64-978A0C0F9FFE}"/>
              </a:ext>
            </a:extLst>
          </p:cNvPr>
          <p:cNvSpPr>
            <a:spLocks noGrp="1"/>
          </p:cNvSpPr>
          <p:nvPr/>
        </p:nvSpPr>
        <p:spPr>
          <a:xfrm>
            <a:off x="2857500" y="8991600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lang="es-ES" sz="825" b="1" i="0" dirty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Creado por</a:t>
            </a:r>
            <a:endParaRPr sz="825" b="1" i="0" dirty="0">
              <a:solidFill>
                <a:srgbClr val="8492A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E8E22D4-2C01-4299-A8CC-E534FCEEDF2D}"/>
              </a:ext>
            </a:extLst>
          </p:cNvPr>
          <p:cNvSpPr>
            <a:spLocks noGrp="1"/>
          </p:cNvSpPr>
          <p:nvPr/>
        </p:nvSpPr>
        <p:spPr>
          <a:xfrm>
            <a:off x="2269410" y="9278579"/>
            <a:ext cx="2645492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lang="es-ES" sz="1275" b="1" i="0" dirty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Carlos cerna y Leandro cerna</a:t>
            </a:r>
            <a:endParaRPr sz="1275" b="1" i="0" dirty="0">
              <a:solidFill>
                <a:srgbClr val="0B25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ACAEB93-FCBC-4502-9CAB-B8C436CD4BF9}"/>
              </a:ext>
            </a:extLst>
          </p:cNvPr>
          <p:cNvSpPr>
            <a:spLocks noGrp="1"/>
          </p:cNvSpPr>
          <p:nvPr/>
        </p:nvSpPr>
        <p:spPr>
          <a:xfrm>
            <a:off x="5143500" y="8991600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4660871-4C41-4C45-81A7-DED82DA3C4BC}"/>
              </a:ext>
            </a:extLst>
          </p:cNvPr>
          <p:cNvSpPr>
            <a:spLocks noGrp="1"/>
          </p:cNvSpPr>
          <p:nvPr/>
        </p:nvSpPr>
        <p:spPr>
          <a:xfrm>
            <a:off x="5143500" y="92583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</p:spTree>
    <p:extLst>
      <p:ext uri="{BB962C8B-B14F-4D97-AF65-F5344CB8AC3E}">
        <p14:creationId xmlns:p14="http://schemas.microsoft.com/office/powerpoint/2010/main" val="93660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ángulo 54">
            <a:extLst>
              <a:ext uri="{FF2B5EF4-FFF2-40B4-BE49-F238E27FC236}">
                <a16:creationId xmlns:a16="http://schemas.microsoft.com/office/drawing/2014/main" id="{10C821AB-0FB0-40A5-A848-2C1E76DC736F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EA49ABD-4D46-461B-AA21-6F368E753E62}"/>
              </a:ext>
            </a:extLst>
          </p:cNvPr>
          <p:cNvSpPr>
            <a:spLocks noGrp="1"/>
          </p:cNvSpPr>
          <p:nvPr/>
        </p:nvSpPr>
        <p:spPr>
          <a:xfrm>
            <a:off x="4438650" y="3238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7F86B67-908F-427E-B7D2-2211337D056F}"/>
              </a:ext>
            </a:extLst>
          </p:cNvPr>
          <p:cNvSpPr>
            <a:spLocks noGrp="1"/>
          </p:cNvSpPr>
          <p:nvPr/>
        </p:nvSpPr>
        <p:spPr>
          <a:xfrm>
            <a:off x="647700" y="10201275"/>
            <a:ext cx="6267450" cy="9525"/>
          </a:xfrm>
          <a:prstGeom prst="rect">
            <a:avLst/>
          </a:prstGeom>
          <a:solidFill>
            <a:srgbClr val="D7E0E6"/>
          </a:solidFill>
          <a:ln w="0">
            <a:noFill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DB85F8E-B71D-4225-A841-DA8C40EB9B1F}"/>
              </a:ext>
            </a:extLst>
          </p:cNvPr>
          <p:cNvSpPr>
            <a:spLocks noGrp="1"/>
          </p:cNvSpPr>
          <p:nvPr/>
        </p:nvSpPr>
        <p:spPr>
          <a:xfrm>
            <a:off x="647700" y="102965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4E82218-A544-4D82-AB3C-3D0E54821093}"/>
              </a:ext>
            </a:extLst>
          </p:cNvPr>
          <p:cNvSpPr>
            <a:spLocks noGrp="1"/>
          </p:cNvSpPr>
          <p:nvPr/>
        </p:nvSpPr>
        <p:spPr>
          <a:xfrm>
            <a:off x="6534150" y="1029652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8F5BBA2-C0FC-4DFA-B75A-7DB9154EB982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6267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DDA621-6FDC-40AA-8FEC-849E2BE34F8E}"/>
              </a:ext>
            </a:extLst>
          </p:cNvPr>
          <p:cNvSpPr>
            <a:spLocks noGrp="1"/>
          </p:cNvSpPr>
          <p:nvPr/>
        </p:nvSpPr>
        <p:spPr>
          <a:xfrm>
            <a:off x="647700" y="1047750"/>
            <a:ext cx="626745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95000"/>
              </a:lnSpc>
              <a:buNone/>
              <a:defRPr sz="29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Una sola trazabilidad desde la línea hasta bodega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06BA2F1-AEEE-4E2F-93C4-E08B8CED46DA}"/>
              </a:ext>
            </a:extLst>
          </p:cNvPr>
          <p:cNvSpPr>
            <a:spLocks noGrp="1"/>
          </p:cNvSpPr>
          <p:nvPr/>
        </p:nvSpPr>
        <p:spPr>
          <a:xfrm>
            <a:off x="647700" y="2152650"/>
            <a:ext cx="62674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aplicación conecta el estado físico de cada módulo con sus materiales, pruebas eléctricas, protocolos y costos asociados.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C8A66C0-BE9D-412F-A56C-DF6E1392B9A5}"/>
              </a:ext>
            </a:extLst>
          </p:cNvPr>
          <p:cNvSpPr>
            <a:spLocks noGrp="1"/>
          </p:cNvSpPr>
          <p:nvPr/>
        </p:nvSpPr>
        <p:spPr>
          <a:xfrm>
            <a:off x="647700" y="3000375"/>
            <a:ext cx="2952750" cy="2476500"/>
          </a:xfrm>
          <a:prstGeom prst="roundRect">
            <a:avLst>
              <a:gd name="adj" fmla="val 4615"/>
            </a:avLst>
          </a:prstGeom>
          <a:solidFill>
            <a:srgbClr val="F8EEE8"/>
          </a:solidFill>
          <a:ln w="9525">
            <a:solidFill>
              <a:srgbClr val="E7D4C9"/>
            </a:solidFill>
            <a:prstDash val="solid"/>
          </a:ln>
        </p:spPr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BD31BB2-A53A-416D-8986-8FEC9FD155E4}"/>
              </a:ext>
            </a:extLst>
          </p:cNvPr>
          <p:cNvSpPr>
            <a:spLocks noGrp="1"/>
          </p:cNvSpPr>
          <p:nvPr/>
        </p:nvSpPr>
        <p:spPr>
          <a:xfrm>
            <a:off x="647700" y="3000375"/>
            <a:ext cx="47625" cy="2476500"/>
          </a:xfrm>
          <a:prstGeom prst="roundRect">
            <a:avLst>
              <a:gd name="adj" fmla="val 40000"/>
            </a:avLst>
          </a:prstGeom>
          <a:solidFill>
            <a:srgbClr val="D67535"/>
          </a:solidFill>
          <a:ln w="0">
            <a:noFill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EC5BD5-FBA3-4FAA-9E2B-BC0CE36D626F}"/>
              </a:ext>
            </a:extLst>
          </p:cNvPr>
          <p:cNvSpPr>
            <a:spLocks noGrp="1"/>
          </p:cNvSpPr>
          <p:nvPr/>
        </p:nvSpPr>
        <p:spPr>
          <a:xfrm>
            <a:off x="857250" y="3190875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F3AE042-B35D-4377-8BF9-F2DF5B614FD3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4B51D"/>
          </a:solidFill>
          <a:ln w="0">
            <a:noFill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A6AB138-400E-49CA-A01A-430F1D4DCE8C}"/>
              </a:ext>
            </a:extLst>
          </p:cNvPr>
          <p:cNvSpPr>
            <a:spLocks noGrp="1"/>
          </p:cNvSpPr>
          <p:nvPr/>
        </p:nvSpPr>
        <p:spPr>
          <a:xfrm>
            <a:off x="1047750" y="3638550"/>
            <a:ext cx="236220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Estado de módulos disperso entre personas y registros.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4AF206A-1F6B-4351-ABE4-03B83028E966}"/>
              </a:ext>
            </a:extLst>
          </p:cNvPr>
          <p:cNvSpPr>
            <a:spLocks noGrp="1"/>
          </p:cNvSpPr>
          <p:nvPr/>
        </p:nvSpPr>
        <p:spPr>
          <a:xfrm>
            <a:off x="857250" y="41624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F4B51D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D61587-978B-41F6-B6E8-7F2F07412341}"/>
              </a:ext>
            </a:extLst>
          </p:cNvPr>
          <p:cNvSpPr>
            <a:spLocks noGrp="1"/>
          </p:cNvSpPr>
          <p:nvPr/>
        </p:nvSpPr>
        <p:spPr>
          <a:xfrm>
            <a:off x="1047750" y="4086225"/>
            <a:ext cx="236220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Solicitudes de material sin una trazabilidad uniforme.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9459119-6834-4447-B992-D5657111CADD}"/>
              </a:ext>
            </a:extLst>
          </p:cNvPr>
          <p:cNvSpPr>
            <a:spLocks noGrp="1"/>
          </p:cNvSpPr>
          <p:nvPr/>
        </p:nvSpPr>
        <p:spPr>
          <a:xfrm>
            <a:off x="857250" y="46101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4B51D"/>
          </a:solidFill>
          <a:ln w="0">
            <a:noFill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E4039CF-D1B4-4C23-B530-4B387CB6A5F4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236220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Protocolos y costos revisados en etapas separadas.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14DD76B-A4CC-480E-BBD7-3E978857928F}"/>
              </a:ext>
            </a:extLst>
          </p:cNvPr>
          <p:cNvSpPr>
            <a:spLocks noGrp="1"/>
          </p:cNvSpPr>
          <p:nvPr/>
        </p:nvSpPr>
        <p:spPr>
          <a:xfrm>
            <a:off x="857250" y="50577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F4B51D"/>
          </a:solidFill>
          <a:ln w="0">
            <a:noFill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52F6F86-BD5E-4C46-A092-CD0A2A1FE50A}"/>
              </a:ext>
            </a:extLst>
          </p:cNvPr>
          <p:cNvSpPr>
            <a:spLocks noGrp="1"/>
          </p:cNvSpPr>
          <p:nvPr/>
        </p:nvSpPr>
        <p:spPr>
          <a:xfrm>
            <a:off x="1047750" y="4981575"/>
            <a:ext cx="236220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Dificultad para detectar diferencias entre retiro y cobro.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9CDBD118-D4FA-4F53-8C9C-D3EC4A5860EA}"/>
              </a:ext>
            </a:extLst>
          </p:cNvPr>
          <p:cNvSpPr>
            <a:spLocks noGrp="1"/>
          </p:cNvSpPr>
          <p:nvPr/>
        </p:nvSpPr>
        <p:spPr>
          <a:xfrm>
            <a:off x="3962400" y="3000375"/>
            <a:ext cx="2952750" cy="2476500"/>
          </a:xfrm>
          <a:prstGeom prst="roundRect">
            <a:avLst>
              <a:gd name="adj" fmla="val 4615"/>
            </a:avLst>
          </a:prstGeom>
          <a:solidFill>
            <a:srgbClr val="E7F7EF"/>
          </a:solidFill>
          <a:ln w="9525">
            <a:solidFill>
              <a:srgbClr val="C5E9D5"/>
            </a:solidFill>
            <a:prstDash val="solid"/>
          </a:ln>
        </p:spPr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4DF133B9-437D-4586-9830-7AF6BF892E0B}"/>
              </a:ext>
            </a:extLst>
          </p:cNvPr>
          <p:cNvSpPr>
            <a:spLocks noGrp="1"/>
          </p:cNvSpPr>
          <p:nvPr/>
        </p:nvSpPr>
        <p:spPr>
          <a:xfrm>
            <a:off x="3962400" y="3000375"/>
            <a:ext cx="47625" cy="2476500"/>
          </a:xfrm>
          <a:prstGeom prst="roundRect">
            <a:avLst>
              <a:gd name="adj" fmla="val 40000"/>
            </a:avLst>
          </a:prstGeom>
          <a:solidFill>
            <a:srgbClr val="198B55"/>
          </a:solidFill>
          <a:ln w="0">
            <a:noFill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FABE573-50A6-41A5-86AE-5FF984A478DD}"/>
              </a:ext>
            </a:extLst>
          </p:cNvPr>
          <p:cNvSpPr>
            <a:spLocks noGrp="1"/>
          </p:cNvSpPr>
          <p:nvPr/>
        </p:nvSpPr>
        <p:spPr>
          <a:xfrm>
            <a:off x="4171950" y="319087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 Control Modular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1DC51DA7-AFC1-46AF-B40B-F977A4CC1634}"/>
              </a:ext>
            </a:extLst>
          </p:cNvPr>
          <p:cNvSpPr>
            <a:spLocks noGrp="1"/>
          </p:cNvSpPr>
          <p:nvPr/>
        </p:nvSpPr>
        <p:spPr>
          <a:xfrm>
            <a:off x="4171950" y="3714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9D878"/>
          </a:solidFill>
          <a:ln w="0">
            <a:noFill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D875FA0-09D8-429D-932D-1498D2580378}"/>
              </a:ext>
            </a:extLst>
          </p:cNvPr>
          <p:cNvSpPr>
            <a:spLocks noGrp="1"/>
          </p:cNvSpPr>
          <p:nvPr/>
        </p:nvSpPr>
        <p:spPr>
          <a:xfrm>
            <a:off x="4362450" y="3638550"/>
            <a:ext cx="236220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Estado por serie y línea visible en tiempo real.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EBC1BCA-6F5B-468A-8CD2-4352FAECA97B}"/>
              </a:ext>
            </a:extLst>
          </p:cNvPr>
          <p:cNvSpPr>
            <a:spLocks noGrp="1"/>
          </p:cNvSpPr>
          <p:nvPr/>
        </p:nvSpPr>
        <p:spPr>
          <a:xfrm>
            <a:off x="4171950" y="41624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9D878"/>
          </a:solidFill>
          <a:ln w="0">
            <a:noFill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BCE0A63-CB02-49EE-B434-D74E752212BD}"/>
              </a:ext>
            </a:extLst>
          </p:cNvPr>
          <p:cNvSpPr>
            <a:spLocks noGrp="1"/>
          </p:cNvSpPr>
          <p:nvPr/>
        </p:nvSpPr>
        <p:spPr>
          <a:xfrm>
            <a:off x="4362450" y="4086225"/>
            <a:ext cx="236220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Pedidos de bodega ligados al módulo y al responsable.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DBEA955D-196F-477A-9142-583F356D2420}"/>
              </a:ext>
            </a:extLst>
          </p:cNvPr>
          <p:cNvSpPr>
            <a:spLocks noGrp="1"/>
          </p:cNvSpPr>
          <p:nvPr/>
        </p:nvSpPr>
        <p:spPr>
          <a:xfrm>
            <a:off x="4171950" y="46101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9D878"/>
          </a:solidFill>
          <a:ln w="0">
            <a:noFill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A2D6947-3C05-4F0A-82F8-D7133845DE02}"/>
              </a:ext>
            </a:extLst>
          </p:cNvPr>
          <p:cNvSpPr>
            <a:spLocks noGrp="1"/>
          </p:cNvSpPr>
          <p:nvPr/>
        </p:nvSpPr>
        <p:spPr>
          <a:xfrm>
            <a:off x="4362450" y="4533900"/>
            <a:ext cx="236220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Protocolos con detalle de materiales y valores.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F4FB478F-58CE-485A-9665-CE5FFC1C5524}"/>
              </a:ext>
            </a:extLst>
          </p:cNvPr>
          <p:cNvSpPr>
            <a:spLocks noGrp="1"/>
          </p:cNvSpPr>
          <p:nvPr/>
        </p:nvSpPr>
        <p:spPr>
          <a:xfrm>
            <a:off x="4171950" y="50577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9D878"/>
          </a:solidFill>
          <a:ln w="0">
            <a:noFill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21E4ED2-1878-4C59-9F5D-569C5353311D}"/>
              </a:ext>
            </a:extLst>
          </p:cNvPr>
          <p:cNvSpPr>
            <a:spLocks noGrp="1"/>
          </p:cNvSpPr>
          <p:nvPr/>
        </p:nvSpPr>
        <p:spPr>
          <a:xfrm>
            <a:off x="4362450" y="4981575"/>
            <a:ext cx="236220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Balances que comparan cantidades retiradas y cobradas.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2C4E3A4C-BC6D-493A-895A-C9CCCD9BB651}"/>
              </a:ext>
            </a:extLst>
          </p:cNvPr>
          <p:cNvSpPr>
            <a:spLocks noGrp="1"/>
          </p:cNvSpPr>
          <p:nvPr/>
        </p:nvSpPr>
        <p:spPr>
          <a:xfrm>
            <a:off x="647700" y="5857875"/>
            <a:ext cx="18669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90BD8D1-A087-4439-8CBC-89B8AC7340C8}"/>
              </a:ext>
            </a:extLst>
          </p:cNvPr>
          <p:cNvSpPr>
            <a:spLocks noGrp="1"/>
          </p:cNvSpPr>
          <p:nvPr/>
        </p:nvSpPr>
        <p:spPr>
          <a:xfrm>
            <a:off x="781050" y="5972175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6CDF2F1-96DD-46C1-8F9D-D3BFC7BEF173}"/>
              </a:ext>
            </a:extLst>
          </p:cNvPr>
          <p:cNvSpPr>
            <a:spLocks noGrp="1"/>
          </p:cNvSpPr>
          <p:nvPr/>
        </p:nvSpPr>
        <p:spPr>
          <a:xfrm>
            <a:off x="781050" y="6267450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EF929F9-9057-4AC6-9F87-3445EC5C9ED7}"/>
              </a:ext>
            </a:extLst>
          </p:cNvPr>
          <p:cNvSpPr>
            <a:spLocks noGrp="1"/>
          </p:cNvSpPr>
          <p:nvPr/>
        </p:nvSpPr>
        <p:spPr>
          <a:xfrm>
            <a:off x="781050" y="6543675"/>
            <a:ext cx="16002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serie conserva su historia y responsables.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355A2033-6CB6-42F2-B66C-1A5887F2098C}"/>
              </a:ext>
            </a:extLst>
          </p:cNvPr>
          <p:cNvSpPr>
            <a:spLocks noGrp="1"/>
          </p:cNvSpPr>
          <p:nvPr/>
        </p:nvSpPr>
        <p:spPr>
          <a:xfrm>
            <a:off x="2743200" y="5857875"/>
            <a:ext cx="18669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2E3E529-570E-42D0-9F9C-EE6028B4E358}"/>
              </a:ext>
            </a:extLst>
          </p:cNvPr>
          <p:cNvSpPr>
            <a:spLocks noGrp="1"/>
          </p:cNvSpPr>
          <p:nvPr/>
        </p:nvSpPr>
        <p:spPr>
          <a:xfrm>
            <a:off x="2876550" y="5972175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B1BE952-9B49-48D6-A8BC-F0035B93992A}"/>
              </a:ext>
            </a:extLst>
          </p:cNvPr>
          <p:cNvSpPr>
            <a:spLocks noGrp="1"/>
          </p:cNvSpPr>
          <p:nvPr/>
        </p:nvSpPr>
        <p:spPr>
          <a:xfrm>
            <a:off x="2876550" y="6267450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operativo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8FCE4ED-5FA3-4B6F-AD53-55B50F01790D}"/>
              </a:ext>
            </a:extLst>
          </p:cNvPr>
          <p:cNvSpPr>
            <a:spLocks noGrp="1"/>
          </p:cNvSpPr>
          <p:nvPr/>
        </p:nvSpPr>
        <p:spPr>
          <a:xfrm>
            <a:off x="2876550" y="6543675"/>
            <a:ext cx="16002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líneas muestran estados y trabajos pendientes.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E3B45776-5223-4490-A1B3-9526EF15F3C3}"/>
              </a:ext>
            </a:extLst>
          </p:cNvPr>
          <p:cNvSpPr>
            <a:spLocks noGrp="1"/>
          </p:cNvSpPr>
          <p:nvPr/>
        </p:nvSpPr>
        <p:spPr>
          <a:xfrm>
            <a:off x="4838700" y="5857875"/>
            <a:ext cx="18669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FC5DC1A-3501-4648-B6E8-F84703383542}"/>
              </a:ext>
            </a:extLst>
          </p:cNvPr>
          <p:cNvSpPr>
            <a:spLocks noGrp="1"/>
          </p:cNvSpPr>
          <p:nvPr/>
        </p:nvSpPr>
        <p:spPr>
          <a:xfrm>
            <a:off x="4972050" y="5972175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A2A7B153-321E-4D2B-A26A-3EDA81C15163}"/>
              </a:ext>
            </a:extLst>
          </p:cNvPr>
          <p:cNvSpPr>
            <a:spLocks noGrp="1"/>
          </p:cNvSpPr>
          <p:nvPr/>
        </p:nvSpPr>
        <p:spPr>
          <a:xfrm>
            <a:off x="4972050" y="6267450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828B8659-1741-43A4-83E9-7C3C54F386A9}"/>
              </a:ext>
            </a:extLst>
          </p:cNvPr>
          <p:cNvSpPr>
            <a:spLocks noGrp="1"/>
          </p:cNvSpPr>
          <p:nvPr/>
        </p:nvSpPr>
        <p:spPr>
          <a:xfrm>
            <a:off x="4972050" y="6543675"/>
            <a:ext cx="16002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Pedidos, devoluciones e inventario quedan vinculados.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BE9DA19B-CEFB-4301-88DC-DADA06BB55BE}"/>
              </a:ext>
            </a:extLst>
          </p:cNvPr>
          <p:cNvSpPr>
            <a:spLocks noGrp="1"/>
          </p:cNvSpPr>
          <p:nvPr/>
        </p:nvSpPr>
        <p:spPr>
          <a:xfrm>
            <a:off x="647700" y="7239000"/>
            <a:ext cx="18669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BF8D2DA-EBB9-4746-92CD-6CC554BA754E}"/>
              </a:ext>
            </a:extLst>
          </p:cNvPr>
          <p:cNvSpPr>
            <a:spLocks noGrp="1"/>
          </p:cNvSpPr>
          <p:nvPr/>
        </p:nvSpPr>
        <p:spPr>
          <a:xfrm>
            <a:off x="781050" y="7353300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A0A4D9F8-3509-4755-AD53-FF0867C4ED39}"/>
              </a:ext>
            </a:extLst>
          </p:cNvPr>
          <p:cNvSpPr>
            <a:spLocks noGrp="1"/>
          </p:cNvSpPr>
          <p:nvPr/>
        </p:nvSpPr>
        <p:spPr>
          <a:xfrm>
            <a:off x="781050" y="7648575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de costos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1491D7F2-50D7-4B63-8386-0CAE78AC1401}"/>
              </a:ext>
            </a:extLst>
          </p:cNvPr>
          <p:cNvSpPr>
            <a:spLocks noGrp="1"/>
          </p:cNvSpPr>
          <p:nvPr/>
        </p:nvSpPr>
        <p:spPr>
          <a:xfrm>
            <a:off x="781050" y="7924800"/>
            <a:ext cx="16002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Protocolos y balances permiten revisar diferencias.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BBDBAA1A-4A88-4E91-A3F5-5CDC8AEAF566}"/>
              </a:ext>
            </a:extLst>
          </p:cNvPr>
          <p:cNvSpPr>
            <a:spLocks noGrp="1"/>
          </p:cNvSpPr>
          <p:nvPr/>
        </p:nvSpPr>
        <p:spPr>
          <a:xfrm>
            <a:off x="2743200" y="7239000"/>
            <a:ext cx="18669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C1CDC9A0-E082-45E8-90CB-D1866A254C0F}"/>
              </a:ext>
            </a:extLst>
          </p:cNvPr>
          <p:cNvSpPr>
            <a:spLocks noGrp="1"/>
          </p:cNvSpPr>
          <p:nvPr/>
        </p:nvSpPr>
        <p:spPr>
          <a:xfrm>
            <a:off x="2876550" y="7353300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099B735-4BAB-4BA2-BEC8-31E5347A6274}"/>
              </a:ext>
            </a:extLst>
          </p:cNvPr>
          <p:cNvSpPr>
            <a:spLocks noGrp="1"/>
          </p:cNvSpPr>
          <p:nvPr/>
        </p:nvSpPr>
        <p:spPr>
          <a:xfrm>
            <a:off x="2876550" y="7648575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Acceso por rol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377AB68-ECA1-4145-82C7-EEF0DA5E5363}"/>
              </a:ext>
            </a:extLst>
          </p:cNvPr>
          <p:cNvSpPr>
            <a:spLocks noGrp="1"/>
          </p:cNvSpPr>
          <p:nvPr/>
        </p:nvSpPr>
        <p:spPr>
          <a:xfrm>
            <a:off x="2876550" y="7924800"/>
            <a:ext cx="16002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usuario ve las acciones que le corresponden.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91EC12D6-CE28-4097-A2FA-D779AD82D2B2}"/>
              </a:ext>
            </a:extLst>
          </p:cNvPr>
          <p:cNvSpPr>
            <a:spLocks noGrp="1"/>
          </p:cNvSpPr>
          <p:nvPr/>
        </p:nvSpPr>
        <p:spPr>
          <a:xfrm>
            <a:off x="4838700" y="7239000"/>
            <a:ext cx="18669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5A64E94F-EFEC-4672-8913-6B3067C67AED}"/>
              </a:ext>
            </a:extLst>
          </p:cNvPr>
          <p:cNvSpPr>
            <a:spLocks noGrp="1"/>
          </p:cNvSpPr>
          <p:nvPr/>
        </p:nvSpPr>
        <p:spPr>
          <a:xfrm>
            <a:off x="4972050" y="7353300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AFC404D0-6AA0-47C9-B946-8E3A989530D5}"/>
              </a:ext>
            </a:extLst>
          </p:cNvPr>
          <p:cNvSpPr>
            <a:spLocks noGrp="1"/>
          </p:cNvSpPr>
          <p:nvPr/>
        </p:nvSpPr>
        <p:spPr>
          <a:xfrm>
            <a:off x="4972050" y="7648575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Uso en terreno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09B1665C-70EA-4084-BF4D-F5845728DE21}"/>
              </a:ext>
            </a:extLst>
          </p:cNvPr>
          <p:cNvSpPr>
            <a:spLocks noGrp="1"/>
          </p:cNvSpPr>
          <p:nvPr/>
        </p:nvSpPr>
        <p:spPr>
          <a:xfrm>
            <a:off x="4972050" y="7924800"/>
            <a:ext cx="16002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interfaz funciona en computador y teléfono.</a:t>
            </a:r>
          </a:p>
        </p:txBody>
      </p:sp>
    </p:spTree>
    <p:extLst>
      <p:ext uri="{BB962C8B-B14F-4D97-AF65-F5344CB8AC3E}">
        <p14:creationId xmlns:p14="http://schemas.microsoft.com/office/powerpoint/2010/main" val="1771872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ángulo 56">
            <a:extLst>
              <a:ext uri="{FF2B5EF4-FFF2-40B4-BE49-F238E27FC236}">
                <a16:creationId xmlns:a16="http://schemas.microsoft.com/office/drawing/2014/main" id="{84E52EF4-3BED-4F49-B9B5-A0AEF7E75080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9510002-3813-4194-98BB-848841046A9D}"/>
              </a:ext>
            </a:extLst>
          </p:cNvPr>
          <p:cNvSpPr>
            <a:spLocks noGrp="1"/>
          </p:cNvSpPr>
          <p:nvPr/>
        </p:nvSpPr>
        <p:spPr>
          <a:xfrm>
            <a:off x="4438650" y="3238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CÓMO FUNCIONA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358E719-177C-4DF4-962D-797CB5EB665A}"/>
              </a:ext>
            </a:extLst>
          </p:cNvPr>
          <p:cNvSpPr>
            <a:spLocks noGrp="1"/>
          </p:cNvSpPr>
          <p:nvPr/>
        </p:nvSpPr>
        <p:spPr>
          <a:xfrm>
            <a:off x="647700" y="10201275"/>
            <a:ext cx="6267450" cy="9525"/>
          </a:xfrm>
          <a:prstGeom prst="rect">
            <a:avLst/>
          </a:prstGeom>
          <a:solidFill>
            <a:srgbClr val="D7E0E6"/>
          </a:solidFill>
          <a:ln w="0">
            <a:noFill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196E95-139B-4E04-BE70-2F263297E521}"/>
              </a:ext>
            </a:extLst>
          </p:cNvPr>
          <p:cNvSpPr>
            <a:spLocks noGrp="1"/>
          </p:cNvSpPr>
          <p:nvPr/>
        </p:nvSpPr>
        <p:spPr>
          <a:xfrm>
            <a:off x="647700" y="102965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510359-73B2-43AE-A286-BF0DED4B1319}"/>
              </a:ext>
            </a:extLst>
          </p:cNvPr>
          <p:cNvSpPr>
            <a:spLocks noGrp="1"/>
          </p:cNvSpPr>
          <p:nvPr/>
        </p:nvSpPr>
        <p:spPr>
          <a:xfrm>
            <a:off x="6534150" y="1029652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FA63D4F-F9EE-49B3-823C-3F8595D3EF6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6267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CÓMO FUNCIONA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A721C56-9541-4FD7-A52B-D2A02FDEDF93}"/>
              </a:ext>
            </a:extLst>
          </p:cNvPr>
          <p:cNvSpPr>
            <a:spLocks noGrp="1"/>
          </p:cNvSpPr>
          <p:nvPr/>
        </p:nvSpPr>
        <p:spPr>
          <a:xfrm>
            <a:off x="647700" y="1047750"/>
            <a:ext cx="626745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95000"/>
              </a:lnSpc>
              <a:buNone/>
              <a:defRPr sz="32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Un flujo operativo conectado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756B292-2EB0-43D8-9DA1-83998751AAD0}"/>
              </a:ext>
            </a:extLst>
          </p:cNvPr>
          <p:cNvSpPr>
            <a:spLocks noGrp="1"/>
          </p:cNvSpPr>
          <p:nvPr/>
        </p:nvSpPr>
        <p:spPr>
          <a:xfrm>
            <a:off x="647700" y="2152650"/>
            <a:ext cx="62674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acción queda asociada a una serie, una línea, una persona y una fecha.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DA792C2-2AB1-4A34-BDC5-ED61330DC0E1}"/>
              </a:ext>
            </a:extLst>
          </p:cNvPr>
          <p:cNvSpPr>
            <a:spLocks noGrp="1"/>
          </p:cNvSpPr>
          <p:nvPr/>
        </p:nvSpPr>
        <p:spPr>
          <a:xfrm>
            <a:off x="647700" y="2857500"/>
            <a:ext cx="1143000" cy="1952625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D27F14C-4C13-4433-B2DF-3BD9F897A706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B2533"/>
          </a:solidFill>
          <a:ln w="0">
            <a:noFill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BDD408-E860-43EF-897D-998194159B72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7D43AE3-35DE-43FC-AAA2-553DCAEF2922}"/>
              </a:ext>
            </a:extLst>
          </p:cNvPr>
          <p:cNvSpPr>
            <a:spLocks noGrp="1"/>
          </p:cNvSpPr>
          <p:nvPr/>
        </p:nvSpPr>
        <p:spPr>
          <a:xfrm>
            <a:off x="752475" y="3448050"/>
            <a:ext cx="9334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Ingreso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0E1B5B0-B8D2-435A-850B-446A6466594A}"/>
              </a:ext>
            </a:extLst>
          </p:cNvPr>
          <p:cNvSpPr>
            <a:spLocks noGrp="1"/>
          </p:cNvSpPr>
          <p:nvPr/>
        </p:nvSpPr>
        <p:spPr>
          <a:xfrm>
            <a:off x="752475" y="3848100"/>
            <a:ext cx="9334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 registra la serie y se asigna a una línea.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843FBC2-B52B-4007-83A7-D6D8DCCBE4D4}"/>
              </a:ext>
            </a:extLst>
          </p:cNvPr>
          <p:cNvSpPr>
            <a:spLocks noGrp="1"/>
          </p:cNvSpPr>
          <p:nvPr/>
        </p:nvSpPr>
        <p:spPr>
          <a:xfrm>
            <a:off x="1790700" y="3524250"/>
            <a:ext cx="1143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B55A3DC-A6EF-425F-98D3-F80C01E54257}"/>
              </a:ext>
            </a:extLst>
          </p:cNvPr>
          <p:cNvSpPr>
            <a:spLocks noGrp="1"/>
          </p:cNvSpPr>
          <p:nvPr/>
        </p:nvSpPr>
        <p:spPr>
          <a:xfrm>
            <a:off x="1905000" y="2857500"/>
            <a:ext cx="1143000" cy="1952625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A9FA581-97A1-4F36-BB39-0C8B2F75E879}"/>
              </a:ext>
            </a:extLst>
          </p:cNvPr>
          <p:cNvSpPr>
            <a:spLocks noGrp="1"/>
          </p:cNvSpPr>
          <p:nvPr/>
        </p:nvSpPr>
        <p:spPr>
          <a:xfrm>
            <a:off x="2038350" y="30099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B2533"/>
          </a:solidFill>
          <a:ln w="0">
            <a:noFill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B143E32-8B9D-4738-B2AA-FC21FC718CD6}"/>
              </a:ext>
            </a:extLst>
          </p:cNvPr>
          <p:cNvSpPr>
            <a:spLocks noGrp="1"/>
          </p:cNvSpPr>
          <p:nvPr/>
        </p:nvSpPr>
        <p:spPr>
          <a:xfrm>
            <a:off x="2038350" y="30099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E481A25-E943-4782-8FD8-43E552068672}"/>
              </a:ext>
            </a:extLst>
          </p:cNvPr>
          <p:cNvSpPr>
            <a:spLocks noGrp="1"/>
          </p:cNvSpPr>
          <p:nvPr/>
        </p:nvSpPr>
        <p:spPr>
          <a:xfrm>
            <a:off x="2009775" y="3448050"/>
            <a:ext cx="9334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Mantención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75B6675-2323-40E7-8EF5-E2BE15E2745F}"/>
              </a:ext>
            </a:extLst>
          </p:cNvPr>
          <p:cNvSpPr>
            <a:spLocks noGrp="1"/>
          </p:cNvSpPr>
          <p:nvPr/>
        </p:nvSpPr>
        <p:spPr>
          <a:xfrm>
            <a:off x="2009775" y="3848100"/>
            <a:ext cx="9334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equipo registra notas y solicita materiales.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6F6EC19-B63E-4D61-BE66-6BDEC1A9A698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1143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8E20DCD-7C55-4AAE-94E3-574CB4B9FFBC}"/>
              </a:ext>
            </a:extLst>
          </p:cNvPr>
          <p:cNvSpPr>
            <a:spLocks noGrp="1"/>
          </p:cNvSpPr>
          <p:nvPr/>
        </p:nvSpPr>
        <p:spPr>
          <a:xfrm>
            <a:off x="3162300" y="2857500"/>
            <a:ext cx="1143000" cy="1952625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651B7AD5-78AD-4CB5-BBC2-30A647278ECB}"/>
              </a:ext>
            </a:extLst>
          </p:cNvPr>
          <p:cNvSpPr>
            <a:spLocks noGrp="1"/>
          </p:cNvSpPr>
          <p:nvPr/>
        </p:nvSpPr>
        <p:spPr>
          <a:xfrm>
            <a:off x="3295650" y="30099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B2533"/>
          </a:solidFill>
          <a:ln w="0">
            <a:noFill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173D311-26D7-471E-ACD1-E496687BB970}"/>
              </a:ext>
            </a:extLst>
          </p:cNvPr>
          <p:cNvSpPr>
            <a:spLocks noGrp="1"/>
          </p:cNvSpPr>
          <p:nvPr/>
        </p:nvSpPr>
        <p:spPr>
          <a:xfrm>
            <a:off x="3295650" y="30099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866FF4C-943B-4CC7-A4A7-832ABBB00F62}"/>
              </a:ext>
            </a:extLst>
          </p:cNvPr>
          <p:cNvSpPr>
            <a:spLocks noGrp="1"/>
          </p:cNvSpPr>
          <p:nvPr/>
        </p:nvSpPr>
        <p:spPr>
          <a:xfrm>
            <a:off x="3267075" y="3448050"/>
            <a:ext cx="9334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3B38555-FE28-4704-BC07-EA553B7B5088}"/>
              </a:ext>
            </a:extLst>
          </p:cNvPr>
          <p:cNvSpPr>
            <a:spLocks noGrp="1"/>
          </p:cNvSpPr>
          <p:nvPr/>
        </p:nvSpPr>
        <p:spPr>
          <a:xfrm>
            <a:off x="3267075" y="3848100"/>
            <a:ext cx="9334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pedido se aprueba, prepara y entrega.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ACB2565-5AD1-444F-AD0B-120475ACCE14}"/>
              </a:ext>
            </a:extLst>
          </p:cNvPr>
          <p:cNvSpPr>
            <a:spLocks noGrp="1"/>
          </p:cNvSpPr>
          <p:nvPr/>
        </p:nvSpPr>
        <p:spPr>
          <a:xfrm>
            <a:off x="4305300" y="3524250"/>
            <a:ext cx="1143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52E84DF6-D3BD-4CFB-897A-883D16BEBB25}"/>
              </a:ext>
            </a:extLst>
          </p:cNvPr>
          <p:cNvSpPr>
            <a:spLocks noGrp="1"/>
          </p:cNvSpPr>
          <p:nvPr/>
        </p:nvSpPr>
        <p:spPr>
          <a:xfrm>
            <a:off x="4419600" y="2857500"/>
            <a:ext cx="1143000" cy="1952625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4A09EB5-5AE2-46E8-AEA0-005355C6BFB2}"/>
              </a:ext>
            </a:extLst>
          </p:cNvPr>
          <p:cNvSpPr>
            <a:spLocks noGrp="1"/>
          </p:cNvSpPr>
          <p:nvPr/>
        </p:nvSpPr>
        <p:spPr>
          <a:xfrm>
            <a:off x="4552950" y="30099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B2533"/>
          </a:solidFill>
          <a:ln w="0">
            <a:noFill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7DEE6C0-54D4-4035-93F7-2D4B439F6985}"/>
              </a:ext>
            </a:extLst>
          </p:cNvPr>
          <p:cNvSpPr>
            <a:spLocks noGrp="1"/>
          </p:cNvSpPr>
          <p:nvPr/>
        </p:nvSpPr>
        <p:spPr>
          <a:xfrm>
            <a:off x="4552950" y="30099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7080858-5558-41FB-A60E-A18420FEA303}"/>
              </a:ext>
            </a:extLst>
          </p:cNvPr>
          <p:cNvSpPr>
            <a:spLocks noGrp="1"/>
          </p:cNvSpPr>
          <p:nvPr/>
        </p:nvSpPr>
        <p:spPr>
          <a:xfrm>
            <a:off x="4524375" y="3448050"/>
            <a:ext cx="9334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Prueba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E1CE3B3-0660-41E4-A1D2-944C7FA95806}"/>
              </a:ext>
            </a:extLst>
          </p:cNvPr>
          <p:cNvSpPr>
            <a:spLocks noGrp="1"/>
          </p:cNvSpPr>
          <p:nvPr/>
        </p:nvSpPr>
        <p:spPr>
          <a:xfrm>
            <a:off x="4524375" y="3848100"/>
            <a:ext cx="9334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prueba eléctrica actualiza el estado del módulo.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639DE5B-9227-456F-A996-75F4189EDEB8}"/>
              </a:ext>
            </a:extLst>
          </p:cNvPr>
          <p:cNvSpPr>
            <a:spLocks noGrp="1"/>
          </p:cNvSpPr>
          <p:nvPr/>
        </p:nvSpPr>
        <p:spPr>
          <a:xfrm>
            <a:off x="5562600" y="3524250"/>
            <a:ext cx="1143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6125F5B8-C901-4495-AF83-47AD123CEA60}"/>
              </a:ext>
            </a:extLst>
          </p:cNvPr>
          <p:cNvSpPr>
            <a:spLocks noGrp="1"/>
          </p:cNvSpPr>
          <p:nvPr/>
        </p:nvSpPr>
        <p:spPr>
          <a:xfrm>
            <a:off x="5676900" y="2857500"/>
            <a:ext cx="1143000" cy="1952625"/>
          </a:xfrm>
          <a:prstGeom prst="roundRect">
            <a:avLst>
              <a:gd name="adj" fmla="val 10000"/>
            </a:avLst>
          </a:prstGeom>
          <a:solidFill>
            <a:srgbClr val="E7F7E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CC2E04EB-5493-46E0-8FCA-14E1B45D0C0A}"/>
              </a:ext>
            </a:extLst>
          </p:cNvPr>
          <p:cNvSpPr>
            <a:spLocks noGrp="1"/>
          </p:cNvSpPr>
          <p:nvPr/>
        </p:nvSpPr>
        <p:spPr>
          <a:xfrm>
            <a:off x="5810250" y="30099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B2533"/>
          </a:solidFill>
          <a:ln w="0">
            <a:noFill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683503D-1FEF-460A-AE34-66DF2A54FB0F}"/>
              </a:ext>
            </a:extLst>
          </p:cNvPr>
          <p:cNvSpPr>
            <a:spLocks noGrp="1"/>
          </p:cNvSpPr>
          <p:nvPr/>
        </p:nvSpPr>
        <p:spPr>
          <a:xfrm>
            <a:off x="5810250" y="30099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C36F6C4-D777-42D9-B970-A94F678F9B23}"/>
              </a:ext>
            </a:extLst>
          </p:cNvPr>
          <p:cNvSpPr>
            <a:spLocks noGrp="1"/>
          </p:cNvSpPr>
          <p:nvPr/>
        </p:nvSpPr>
        <p:spPr>
          <a:xfrm>
            <a:off x="5781675" y="3448050"/>
            <a:ext cx="9334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Protocolo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FD2F138-80C4-4C0E-8BE0-7CF8535F1AD2}"/>
              </a:ext>
            </a:extLst>
          </p:cNvPr>
          <p:cNvSpPr>
            <a:spLocks noGrp="1"/>
          </p:cNvSpPr>
          <p:nvPr/>
        </p:nvSpPr>
        <p:spPr>
          <a:xfrm>
            <a:off x="5781675" y="3848100"/>
            <a:ext cx="9334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Materiales, valores e historial quedan disponibles.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0E6DF7C-89C4-416B-A43A-174965DC9079}"/>
              </a:ext>
            </a:extLst>
          </p:cNvPr>
          <p:cNvSpPr>
            <a:spLocks noGrp="1"/>
          </p:cNvSpPr>
          <p:nvPr/>
        </p:nvSpPr>
        <p:spPr>
          <a:xfrm>
            <a:off x="647700" y="5095875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Roles del sistema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A95D7BF-CD18-4BAC-8403-87B6C72E5F1D}"/>
              </a:ext>
            </a:extLst>
          </p:cNvPr>
          <p:cNvSpPr>
            <a:spLocks noGrp="1"/>
          </p:cNvSpPr>
          <p:nvPr/>
        </p:nvSpPr>
        <p:spPr>
          <a:xfrm>
            <a:off x="647700" y="5524500"/>
            <a:ext cx="6267450" cy="438150"/>
          </a:xfrm>
          <a:prstGeom prst="rect">
            <a:avLst/>
          </a:prstGeom>
          <a:solidFill>
            <a:srgbClr val="0B2533"/>
          </a:solidFill>
          <a:ln w="0">
            <a:noFill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6BDF5C4-D96E-4D28-8502-DFF8CBEA65C1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128587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6EB708EE-E401-43B0-88D0-864E93FA690F}"/>
              </a:ext>
            </a:extLst>
          </p:cNvPr>
          <p:cNvSpPr>
            <a:spLocks noGrp="1"/>
          </p:cNvSpPr>
          <p:nvPr/>
        </p:nvSpPr>
        <p:spPr>
          <a:xfrm>
            <a:off x="2028825" y="5524500"/>
            <a:ext cx="4667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RESPONSABILIDAD PRINCIPAL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B0253792-5987-4026-A5F6-AE938ECBC6A2}"/>
              </a:ext>
            </a:extLst>
          </p:cNvPr>
          <p:cNvSpPr>
            <a:spLocks noGrp="1"/>
          </p:cNvSpPr>
          <p:nvPr/>
        </p:nvSpPr>
        <p:spPr>
          <a:xfrm>
            <a:off x="647700" y="5962650"/>
            <a:ext cx="62674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1FD4326-F2CE-4921-832E-74679BFA8138}"/>
              </a:ext>
            </a:extLst>
          </p:cNvPr>
          <p:cNvSpPr>
            <a:spLocks noGrp="1"/>
          </p:cNvSpPr>
          <p:nvPr/>
        </p:nvSpPr>
        <p:spPr>
          <a:xfrm>
            <a:off x="762000" y="5962650"/>
            <a:ext cx="128587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4CB8033-9032-42BE-AFA6-D1F1F3A29E12}"/>
              </a:ext>
            </a:extLst>
          </p:cNvPr>
          <p:cNvSpPr>
            <a:spLocks noGrp="1"/>
          </p:cNvSpPr>
          <p:nvPr/>
        </p:nvSpPr>
        <p:spPr>
          <a:xfrm>
            <a:off x="2028825" y="6048375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Configura usuarios, permisos, catálogos y revisa toda la operación.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CFD63ECB-9B6F-4DB9-B8F0-458A4821EBBD}"/>
              </a:ext>
            </a:extLst>
          </p:cNvPr>
          <p:cNvSpPr>
            <a:spLocks noGrp="1"/>
          </p:cNvSpPr>
          <p:nvPr/>
        </p:nvSpPr>
        <p:spPr>
          <a:xfrm>
            <a:off x="647700" y="6610350"/>
            <a:ext cx="6267450" cy="647700"/>
          </a:xfrm>
          <a:prstGeom prst="rect">
            <a:avLst/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1A595419-8DDF-4E88-9D40-99C2D9F151F3}"/>
              </a:ext>
            </a:extLst>
          </p:cNvPr>
          <p:cNvSpPr>
            <a:spLocks noGrp="1"/>
          </p:cNvSpPr>
          <p:nvPr/>
        </p:nvSpPr>
        <p:spPr>
          <a:xfrm>
            <a:off x="762000" y="6610350"/>
            <a:ext cx="128587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Operador / eléctrico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FF99EFB0-69E7-49B7-A3E7-6436990D6344}"/>
              </a:ext>
            </a:extLst>
          </p:cNvPr>
          <p:cNvSpPr>
            <a:spLocks noGrp="1"/>
          </p:cNvSpPr>
          <p:nvPr/>
        </p:nvSpPr>
        <p:spPr>
          <a:xfrm>
            <a:off x="2028825" y="6696075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Actualiza módulos, solicita materiales y registra pruebas o protocolos según permiso.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ECBAF722-9F7C-45D6-85FD-28463D0249DA}"/>
              </a:ext>
            </a:extLst>
          </p:cNvPr>
          <p:cNvSpPr>
            <a:spLocks noGrp="1"/>
          </p:cNvSpPr>
          <p:nvPr/>
        </p:nvSpPr>
        <p:spPr>
          <a:xfrm>
            <a:off x="647700" y="7258050"/>
            <a:ext cx="62674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6556DC9B-4CFE-4CEB-B217-74DE4FED0413}"/>
              </a:ext>
            </a:extLst>
          </p:cNvPr>
          <p:cNvSpPr>
            <a:spLocks noGrp="1"/>
          </p:cNvSpPr>
          <p:nvPr/>
        </p:nvSpPr>
        <p:spPr>
          <a:xfrm>
            <a:off x="762000" y="7258050"/>
            <a:ext cx="128587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 / analista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F4C381B-9AFB-4EF7-9CAA-70F835D2E069}"/>
              </a:ext>
            </a:extLst>
          </p:cNvPr>
          <p:cNvSpPr>
            <a:spLocks noGrp="1"/>
          </p:cNvSpPr>
          <p:nvPr/>
        </p:nvSpPr>
        <p:spPr>
          <a:xfrm>
            <a:off x="2028825" y="7343775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Recibe avisos, gestiona pedidos, inventario, vales y devoluciones.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36208C4F-28B2-4762-A3B5-0634A326BB7E}"/>
              </a:ext>
            </a:extLst>
          </p:cNvPr>
          <p:cNvSpPr>
            <a:spLocks noGrp="1"/>
          </p:cNvSpPr>
          <p:nvPr/>
        </p:nvSpPr>
        <p:spPr>
          <a:xfrm>
            <a:off x="647700" y="7905750"/>
            <a:ext cx="6267450" cy="647700"/>
          </a:xfrm>
          <a:prstGeom prst="rect">
            <a:avLst/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6983CB4D-72FC-4FCA-8C68-FCF6509DDF16}"/>
              </a:ext>
            </a:extLst>
          </p:cNvPr>
          <p:cNvSpPr>
            <a:spLocks noGrp="1"/>
          </p:cNvSpPr>
          <p:nvPr/>
        </p:nvSpPr>
        <p:spPr>
          <a:xfrm>
            <a:off x="762000" y="7905750"/>
            <a:ext cx="1285875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Jefatura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FDDC9604-DFBE-465A-9319-8074B6FA6A26}"/>
              </a:ext>
            </a:extLst>
          </p:cNvPr>
          <p:cNvSpPr>
            <a:spLocks noGrp="1"/>
          </p:cNvSpPr>
          <p:nvPr/>
        </p:nvSpPr>
        <p:spPr>
          <a:xfrm>
            <a:off x="2028825" y="7991475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Consulta indicadores, balances, auditoría e historial por serie.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B5D79D03-4179-4DC9-BA8A-C5D5FD86C642}"/>
              </a:ext>
            </a:extLst>
          </p:cNvPr>
          <p:cNvSpPr>
            <a:spLocks noGrp="1"/>
          </p:cNvSpPr>
          <p:nvPr/>
        </p:nvSpPr>
        <p:spPr>
          <a:xfrm>
            <a:off x="647700" y="8858250"/>
            <a:ext cx="6267450" cy="952500"/>
          </a:xfrm>
          <a:prstGeom prst="roundRect">
            <a:avLst>
              <a:gd name="adj" fmla="val 12000"/>
            </a:avLst>
          </a:prstGeom>
          <a:solidFill>
            <a:srgbClr val="E8F2FD"/>
          </a:solidFill>
          <a:ln w="0">
            <a:noFill/>
          </a:ln>
        </p:spPr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297CFE6-7A83-420D-8FBB-7142DB8BDC5E}"/>
              </a:ext>
            </a:extLst>
          </p:cNvPr>
          <p:cNvSpPr>
            <a:spLocks noGrp="1"/>
          </p:cNvSpPr>
          <p:nvPr/>
        </p:nvSpPr>
        <p:spPr>
          <a:xfrm>
            <a:off x="819150" y="90106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Datos conectados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0147E22C-3DDF-4E84-BCE1-33192C1E6B82}"/>
              </a:ext>
            </a:extLst>
          </p:cNvPr>
          <p:cNvSpPr>
            <a:spLocks noGrp="1"/>
          </p:cNvSpPr>
          <p:nvPr/>
        </p:nvSpPr>
        <p:spPr>
          <a:xfrm>
            <a:off x="819150" y="9334500"/>
            <a:ext cx="59245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Supabase centraliza la información y los permisos. La aplicación permite exportar listados e inventario cuando el equipo necesita trabajar en Excel.</a:t>
            </a:r>
          </a:p>
        </p:txBody>
      </p:sp>
    </p:spTree>
    <p:extLst>
      <p:ext uri="{BB962C8B-B14F-4D97-AF65-F5344CB8AC3E}">
        <p14:creationId xmlns:p14="http://schemas.microsoft.com/office/powerpoint/2010/main" val="1031960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F8F6AAF0-9AC1-47DD-9DA5-37EE9B9370C2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DC8A70-A982-47C3-8FE9-A49A1247BF70}"/>
              </a:ext>
            </a:extLst>
          </p:cNvPr>
          <p:cNvSpPr>
            <a:spLocks noGrp="1"/>
          </p:cNvSpPr>
          <p:nvPr/>
        </p:nvSpPr>
        <p:spPr>
          <a:xfrm>
            <a:off x="4438650" y="3238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DE MÓDULOS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73FFCC9-185F-443A-9112-236D81561298}"/>
              </a:ext>
            </a:extLst>
          </p:cNvPr>
          <p:cNvSpPr>
            <a:spLocks noGrp="1"/>
          </p:cNvSpPr>
          <p:nvPr/>
        </p:nvSpPr>
        <p:spPr>
          <a:xfrm>
            <a:off x="647700" y="10201275"/>
            <a:ext cx="6267450" cy="9525"/>
          </a:xfrm>
          <a:prstGeom prst="rect">
            <a:avLst/>
          </a:prstGeom>
          <a:solidFill>
            <a:srgbClr val="D7E0E6"/>
          </a:solidFill>
          <a:ln w="0">
            <a:noFill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75E3AA-FA6D-434E-B7F3-6C8B568702CE}"/>
              </a:ext>
            </a:extLst>
          </p:cNvPr>
          <p:cNvSpPr>
            <a:spLocks noGrp="1"/>
          </p:cNvSpPr>
          <p:nvPr/>
        </p:nvSpPr>
        <p:spPr>
          <a:xfrm>
            <a:off x="647700" y="102965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FE46DCD-E6A2-4880-8EE7-57C099EAFFD8}"/>
              </a:ext>
            </a:extLst>
          </p:cNvPr>
          <p:cNvSpPr>
            <a:spLocks noGrp="1"/>
          </p:cNvSpPr>
          <p:nvPr/>
        </p:nvSpPr>
        <p:spPr>
          <a:xfrm>
            <a:off x="6534150" y="1029652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CB4EC48-A881-4C93-A7C3-158CD940604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6267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CONTROL DE MÓDULOS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E3844D-38D4-4B6E-996F-A5D40C86F423}"/>
              </a:ext>
            </a:extLst>
          </p:cNvPr>
          <p:cNvSpPr>
            <a:spLocks noGrp="1"/>
          </p:cNvSpPr>
          <p:nvPr/>
        </p:nvSpPr>
        <p:spPr>
          <a:xfrm>
            <a:off x="647700" y="1047750"/>
            <a:ext cx="626745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El estado de cada serie queda visible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D5BF8E7-7E03-45D0-8B31-67DA8856468D}"/>
              </a:ext>
            </a:extLst>
          </p:cNvPr>
          <p:cNvSpPr>
            <a:spLocks noGrp="1"/>
          </p:cNvSpPr>
          <p:nvPr/>
        </p:nvSpPr>
        <p:spPr>
          <a:xfrm>
            <a:off x="647700" y="2152650"/>
            <a:ext cx="62674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tarjetas permiten reconocer rápidamente qué módulos están disponibles, pendientes, en mantención o con una alerta.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B3F81B0-9A8E-47CB-A0EF-92F9226D1283}"/>
              </a:ext>
            </a:extLst>
          </p:cNvPr>
          <p:cNvSpPr>
            <a:spLocks noGrp="1"/>
          </p:cNvSpPr>
          <p:nvPr/>
        </p:nvSpPr>
        <p:spPr>
          <a:xfrm>
            <a:off x="647700" y="2857500"/>
            <a:ext cx="6267450" cy="4048125"/>
          </a:xfrm>
          <a:prstGeom prst="roundRect">
            <a:avLst>
              <a:gd name="adj" fmla="val 3294"/>
            </a:avLst>
          </a:prstGeom>
          <a:solidFill>
            <a:srgbClr val="0B25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rcRect l="1000" t="4000" r="1000" b="5000"/>
          <a:stretch/>
        </p:blipFill>
        <p:spPr>
          <a:xfrm>
            <a:off x="762000" y="2971800"/>
            <a:ext cx="6038850" cy="3819525"/>
          </a:xfrm>
          <a:prstGeom prst="roundRect">
            <a:avLst>
              <a:gd name="adj" fmla="val 2494"/>
            </a:avLst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A42229F-EF94-418D-84E3-06A7E54AC3E3}"/>
              </a:ext>
            </a:extLst>
          </p:cNvPr>
          <p:cNvSpPr>
            <a:spLocks noGrp="1"/>
          </p:cNvSpPr>
          <p:nvPr/>
        </p:nvSpPr>
        <p:spPr>
          <a:xfrm>
            <a:off x="647700" y="7000875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Vista de líneas y estados por módulo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062C4C1-C607-4C33-A833-200943A90D28}"/>
              </a:ext>
            </a:extLst>
          </p:cNvPr>
          <p:cNvSpPr>
            <a:spLocks noGrp="1"/>
          </p:cNvSpPr>
          <p:nvPr/>
        </p:nvSpPr>
        <p:spPr>
          <a:xfrm>
            <a:off x="647700" y="76009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1D6D1"/>
          </a:solidFill>
          <a:ln w="0">
            <a:noFill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DA4CB28-7DF8-49F7-9954-A6420E30209B}"/>
              </a:ext>
            </a:extLst>
          </p:cNvPr>
          <p:cNvSpPr>
            <a:spLocks noGrp="1"/>
          </p:cNvSpPr>
          <p:nvPr/>
        </p:nvSpPr>
        <p:spPr>
          <a:xfrm>
            <a:off x="838200" y="7524750"/>
            <a:ext cx="60769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Lectura inmediata: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color e ícono distinguen prueba aprobada, mantención, alerta y módulo sin iniciar.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E3EB2CF-8201-418B-B3CE-DD8F1EAF42CC}"/>
              </a:ext>
            </a:extLst>
          </p:cNvPr>
          <p:cNvSpPr>
            <a:spLocks noGrp="1"/>
          </p:cNvSpPr>
          <p:nvPr/>
        </p:nvSpPr>
        <p:spPr>
          <a:xfrm>
            <a:off x="647700" y="82105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1D6D1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4D4A106-6948-4E44-B805-88CAEBC24AA3}"/>
              </a:ext>
            </a:extLst>
          </p:cNvPr>
          <p:cNvSpPr>
            <a:spLocks noGrp="1"/>
          </p:cNvSpPr>
          <p:nvPr/>
        </p:nvSpPr>
        <p:spPr>
          <a:xfrm>
            <a:off x="838200" y="8134350"/>
            <a:ext cx="60769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Historial por serie: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la búsqueda reúne movimientos, notas y pruebas eléctricas anteriores.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AA273DE-2922-446C-B023-08F68742F20E}"/>
              </a:ext>
            </a:extLst>
          </p:cNvPr>
          <p:cNvSpPr>
            <a:spLocks noGrp="1"/>
          </p:cNvSpPr>
          <p:nvPr/>
        </p:nvSpPr>
        <p:spPr>
          <a:xfrm>
            <a:off x="647700" y="88201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1D6D1"/>
          </a:solidFill>
          <a:ln w="0">
            <a:noFill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52C5BA6-664F-48E4-B6F0-14E52EF42252}"/>
              </a:ext>
            </a:extLst>
          </p:cNvPr>
          <p:cNvSpPr>
            <a:spLocks noGrp="1"/>
          </p:cNvSpPr>
          <p:nvPr/>
        </p:nvSpPr>
        <p:spPr>
          <a:xfrm>
            <a:off x="838200" y="8743950"/>
            <a:ext cx="60769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Garantía automática: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al ingresar una serie, el sistema revisa pruebas eléctricas de los últimos tres meses y conserva la fecha anterior cuando corresponde.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C2510A1-05D8-46B2-8B90-0F4AFA5506B7}"/>
              </a:ext>
            </a:extLst>
          </p:cNvPr>
          <p:cNvSpPr>
            <a:spLocks noGrp="1"/>
          </p:cNvSpPr>
          <p:nvPr/>
        </p:nvSpPr>
        <p:spPr>
          <a:xfrm>
            <a:off x="647700" y="9429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1D6D1"/>
          </a:solidFill>
          <a:ln w="0">
            <a:noFill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5E61040-FF9C-44F7-8FDD-D54684D5EFD2}"/>
              </a:ext>
            </a:extLst>
          </p:cNvPr>
          <p:cNvSpPr>
            <a:spLocks noGrp="1"/>
          </p:cNvSpPr>
          <p:nvPr/>
        </p:nvSpPr>
        <p:spPr>
          <a:xfrm>
            <a:off x="838200" y="9353550"/>
            <a:ext cx="60769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Acciones controladas: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guardar nota, solicitar material y solicitar prueba dependen del rol del usuario.</a:t>
            </a:r>
          </a:p>
        </p:txBody>
      </p:sp>
    </p:spTree>
    <p:extLst>
      <p:ext uri="{BB962C8B-B14F-4D97-AF65-F5344CB8AC3E}">
        <p14:creationId xmlns:p14="http://schemas.microsoft.com/office/powerpoint/2010/main" val="52269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0D7D9500-FCB3-448A-84FC-4BA31557A105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CD9DE15-1FCB-4838-AF9E-D29F3D954769}"/>
              </a:ext>
            </a:extLst>
          </p:cNvPr>
          <p:cNvSpPr>
            <a:spLocks noGrp="1"/>
          </p:cNvSpPr>
          <p:nvPr/>
        </p:nvSpPr>
        <p:spPr>
          <a:xfrm>
            <a:off x="4438650" y="3238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PROTOCOLOS Y COSTOS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E63854-551B-4417-B7C5-6FB75DA96479}"/>
              </a:ext>
            </a:extLst>
          </p:cNvPr>
          <p:cNvSpPr>
            <a:spLocks noGrp="1"/>
          </p:cNvSpPr>
          <p:nvPr/>
        </p:nvSpPr>
        <p:spPr>
          <a:xfrm>
            <a:off x="647700" y="10201275"/>
            <a:ext cx="6267450" cy="9525"/>
          </a:xfrm>
          <a:prstGeom prst="rect">
            <a:avLst/>
          </a:prstGeom>
          <a:solidFill>
            <a:srgbClr val="D7E0E6"/>
          </a:solidFill>
          <a:ln w="0">
            <a:noFill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8360365-ACAB-4F04-98D3-56B5F5E867D8}"/>
              </a:ext>
            </a:extLst>
          </p:cNvPr>
          <p:cNvSpPr>
            <a:spLocks noGrp="1"/>
          </p:cNvSpPr>
          <p:nvPr/>
        </p:nvSpPr>
        <p:spPr>
          <a:xfrm>
            <a:off x="647700" y="102965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AD1416B-4116-4A42-99EF-801FE882C2B4}"/>
              </a:ext>
            </a:extLst>
          </p:cNvPr>
          <p:cNvSpPr>
            <a:spLocks noGrp="1"/>
          </p:cNvSpPr>
          <p:nvPr/>
        </p:nvSpPr>
        <p:spPr>
          <a:xfrm>
            <a:off x="6534150" y="1029652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3AA323-EDAC-4010-9437-8D3A759458C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6267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PROTOCOLOS Y COSTOS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B2925E4-3E3D-457E-AFF1-2C4A681EF3DD}"/>
              </a:ext>
            </a:extLst>
          </p:cNvPr>
          <p:cNvSpPr>
            <a:spLocks noGrp="1"/>
          </p:cNvSpPr>
          <p:nvPr/>
        </p:nvSpPr>
        <p:spPr>
          <a:xfrm>
            <a:off x="647700" y="1047750"/>
            <a:ext cx="626745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Cada cobro conserva su detalle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EDC2D39-D114-459B-A265-5D682AA81B2D}"/>
              </a:ext>
            </a:extLst>
          </p:cNvPr>
          <p:cNvSpPr>
            <a:spLocks noGrp="1"/>
          </p:cNvSpPr>
          <p:nvPr/>
        </p:nvSpPr>
        <p:spPr>
          <a:xfrm>
            <a:off x="647700" y="2152650"/>
            <a:ext cx="62674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Los protocolos mensuales muestran la serie, fecha, tipo de módulo, valores, orden de trabajo y materiales registrados.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9C032C8-2889-413E-A3B0-98B005B160ED}"/>
              </a:ext>
            </a:extLst>
          </p:cNvPr>
          <p:cNvSpPr>
            <a:spLocks noGrp="1"/>
          </p:cNvSpPr>
          <p:nvPr/>
        </p:nvSpPr>
        <p:spPr>
          <a:xfrm>
            <a:off x="647700" y="2819400"/>
            <a:ext cx="6267450" cy="4476750"/>
          </a:xfrm>
          <a:prstGeom prst="roundRect">
            <a:avLst>
              <a:gd name="adj" fmla="val 2979"/>
            </a:avLst>
          </a:prstGeom>
          <a:solidFill>
            <a:srgbClr val="0B25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33" name="Imagen 32"/>
          <p:cNvPicPr>
            <a:picLocks noChangeAspect="1"/>
          </p:cNvPicPr>
          <p:nvPr/>
        </p:nvPicPr>
        <p:blipFill>
          <a:blip r:embed="rId3"/>
          <a:srcRect l="12000" t="2000" r="2000" b="3000"/>
          <a:stretch/>
        </p:blipFill>
        <p:spPr>
          <a:xfrm>
            <a:off x="762000" y="2933700"/>
            <a:ext cx="6038850" cy="4248150"/>
          </a:xfrm>
          <a:prstGeom prst="roundRect">
            <a:avLst>
              <a:gd name="adj" fmla="val 2242"/>
            </a:avLst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2CF0252-5667-416F-8D8F-C24C26D2914F}"/>
              </a:ext>
            </a:extLst>
          </p:cNvPr>
          <p:cNvSpPr>
            <a:spLocks noGrp="1"/>
          </p:cNvSpPr>
          <p:nvPr/>
        </p:nvSpPr>
        <p:spPr>
          <a:xfrm>
            <a:off x="647700" y="7391400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Protocolos mensuales con filtros, serie, valores e ID de orden de trabajo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C0D9623-1F87-4C8E-9047-FD73A0380199}"/>
              </a:ext>
            </a:extLst>
          </p:cNvPr>
          <p:cNvSpPr>
            <a:spLocks noGrp="1"/>
          </p:cNvSpPr>
          <p:nvPr/>
        </p:nvSpPr>
        <p:spPr>
          <a:xfrm>
            <a:off x="647700" y="7886700"/>
            <a:ext cx="2905125" cy="838200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215763B-EB13-482F-99BB-EAEEAE1AE7FE}"/>
              </a:ext>
            </a:extLst>
          </p:cNvPr>
          <p:cNvSpPr>
            <a:spLocks noGrp="1"/>
          </p:cNvSpPr>
          <p:nvPr/>
        </p:nvSpPr>
        <p:spPr>
          <a:xfrm>
            <a:off x="781050" y="8001000"/>
            <a:ext cx="26193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Detalle editable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719625-FE3E-4873-B4EC-720AD78B11E7}"/>
              </a:ext>
            </a:extLst>
          </p:cNvPr>
          <p:cNvSpPr>
            <a:spLocks noGrp="1"/>
          </p:cNvSpPr>
          <p:nvPr/>
        </p:nvSpPr>
        <p:spPr>
          <a:xfrm>
            <a:off x="781050" y="8258175"/>
            <a:ext cx="261937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protocolo conserva mano de obra, materiales, cantidades y precios aplicados.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CCBB028-EA90-4B94-9031-C425E2EDE543}"/>
              </a:ext>
            </a:extLst>
          </p:cNvPr>
          <p:cNvSpPr>
            <a:spLocks noGrp="1"/>
          </p:cNvSpPr>
          <p:nvPr/>
        </p:nvSpPr>
        <p:spPr>
          <a:xfrm>
            <a:off x="3838575" y="7886700"/>
            <a:ext cx="2905125" cy="838200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75164A6-D9D3-4B06-A777-E8CA913FFCD2}"/>
              </a:ext>
            </a:extLst>
          </p:cNvPr>
          <p:cNvSpPr>
            <a:spLocks noGrp="1"/>
          </p:cNvSpPr>
          <p:nvPr/>
        </p:nvSpPr>
        <p:spPr>
          <a:xfrm>
            <a:off x="3971925" y="8001000"/>
            <a:ext cx="26193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Exportación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8B0F094-2C69-434B-8258-0A0C51C3EDF6}"/>
              </a:ext>
            </a:extLst>
          </p:cNvPr>
          <p:cNvSpPr>
            <a:spLocks noGrp="1"/>
          </p:cNvSpPr>
          <p:nvPr/>
        </p:nvSpPr>
        <p:spPr>
          <a:xfrm>
            <a:off x="3971925" y="8258175"/>
            <a:ext cx="261937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listado de pruebas eléctricas puede filtrarse por fecha y exportarse.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3C93D4F-5EAC-42F4-8119-A23C92913AF1}"/>
              </a:ext>
            </a:extLst>
          </p:cNvPr>
          <p:cNvSpPr>
            <a:spLocks noGrp="1"/>
          </p:cNvSpPr>
          <p:nvPr/>
        </p:nvSpPr>
        <p:spPr>
          <a:xfrm>
            <a:off x="647700" y="8877300"/>
            <a:ext cx="2905125" cy="838200"/>
          </a:xfrm>
          <a:prstGeom prst="roundRect">
            <a:avLst>
              <a:gd name="adj" fmla="val 11364"/>
            </a:avLst>
          </a:prstGeom>
          <a:solidFill>
            <a:srgbClr val="E7F7E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11A16BA-74B8-40B0-A854-589683116E59}"/>
              </a:ext>
            </a:extLst>
          </p:cNvPr>
          <p:cNvSpPr>
            <a:spLocks noGrp="1"/>
          </p:cNvSpPr>
          <p:nvPr/>
        </p:nvSpPr>
        <p:spPr>
          <a:xfrm>
            <a:off x="781050" y="8991600"/>
            <a:ext cx="26193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Garantía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CFADB1E-2C84-47E7-B478-94EF27665884}"/>
              </a:ext>
            </a:extLst>
          </p:cNvPr>
          <p:cNvSpPr>
            <a:spLocks noGrp="1"/>
          </p:cNvSpPr>
          <p:nvPr/>
        </p:nvSpPr>
        <p:spPr>
          <a:xfrm>
            <a:off x="781050" y="9248775"/>
            <a:ext cx="261937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fecha de una prueba anterior acompaña al módulo cuando reingresa dentro del período definido.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9F7BA73-6CA0-4FCC-9918-A42CEB272E64}"/>
              </a:ext>
            </a:extLst>
          </p:cNvPr>
          <p:cNvSpPr>
            <a:spLocks noGrp="1"/>
          </p:cNvSpPr>
          <p:nvPr/>
        </p:nvSpPr>
        <p:spPr>
          <a:xfrm>
            <a:off x="3838575" y="8877300"/>
            <a:ext cx="2905125" cy="838200"/>
          </a:xfrm>
          <a:prstGeom prst="roundRect">
            <a:avLst>
              <a:gd name="adj" fmla="val 11364"/>
            </a:avLst>
          </a:prstGeom>
          <a:solidFill>
            <a:srgbClr val="E7F7E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40662BA-AA84-44AA-B894-5A65A6270B46}"/>
              </a:ext>
            </a:extLst>
          </p:cNvPr>
          <p:cNvSpPr>
            <a:spLocks noGrp="1"/>
          </p:cNvSpPr>
          <p:nvPr/>
        </p:nvSpPr>
        <p:spPr>
          <a:xfrm>
            <a:off x="3971925" y="8991600"/>
            <a:ext cx="26193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98C9137-4396-4416-A585-7633C88E255C}"/>
              </a:ext>
            </a:extLst>
          </p:cNvPr>
          <p:cNvSpPr>
            <a:spLocks noGrp="1"/>
          </p:cNvSpPr>
          <p:nvPr/>
        </p:nvSpPr>
        <p:spPr>
          <a:xfrm>
            <a:off x="3971925" y="9248775"/>
            <a:ext cx="261937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diferencias entre material retirado y protocolizado quedan disponibles para revisión.</a:t>
            </a:r>
          </a:p>
        </p:txBody>
      </p:sp>
    </p:spTree>
    <p:extLst>
      <p:ext uri="{BB962C8B-B14F-4D97-AF65-F5344CB8AC3E}">
        <p14:creationId xmlns:p14="http://schemas.microsoft.com/office/powerpoint/2010/main" val="1704493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C27B60C5-04A0-4916-B0BC-AA8571076390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9172622-826F-4038-A236-883E4481069F}"/>
              </a:ext>
            </a:extLst>
          </p:cNvPr>
          <p:cNvSpPr>
            <a:spLocks noGrp="1"/>
          </p:cNvSpPr>
          <p:nvPr/>
        </p:nvSpPr>
        <p:spPr>
          <a:xfrm>
            <a:off x="4438650" y="3238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A70AC93-AA23-47CA-9F59-069084B6B9B1}"/>
              </a:ext>
            </a:extLst>
          </p:cNvPr>
          <p:cNvSpPr>
            <a:spLocks noGrp="1"/>
          </p:cNvSpPr>
          <p:nvPr/>
        </p:nvSpPr>
        <p:spPr>
          <a:xfrm>
            <a:off x="647700" y="10201275"/>
            <a:ext cx="6267450" cy="9525"/>
          </a:xfrm>
          <a:prstGeom prst="rect">
            <a:avLst/>
          </a:prstGeom>
          <a:solidFill>
            <a:srgbClr val="D7E0E6"/>
          </a:solidFill>
          <a:ln w="0">
            <a:noFill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2B99A29-D89F-40F1-9B5F-84817378269C}"/>
              </a:ext>
            </a:extLst>
          </p:cNvPr>
          <p:cNvSpPr>
            <a:spLocks noGrp="1"/>
          </p:cNvSpPr>
          <p:nvPr/>
        </p:nvSpPr>
        <p:spPr>
          <a:xfrm>
            <a:off x="647700" y="102965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1D8D3B4-2699-4DA9-BA3F-3AFA7D0C3B11}"/>
              </a:ext>
            </a:extLst>
          </p:cNvPr>
          <p:cNvSpPr>
            <a:spLocks noGrp="1"/>
          </p:cNvSpPr>
          <p:nvPr/>
        </p:nvSpPr>
        <p:spPr>
          <a:xfrm>
            <a:off x="6534150" y="1029652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A5ABBC-A8DD-4616-B1E8-7DF32CE4967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6267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A9CCDE-3E42-46CF-B057-D3F953091684}"/>
              </a:ext>
            </a:extLst>
          </p:cNvPr>
          <p:cNvSpPr>
            <a:spLocks noGrp="1"/>
          </p:cNvSpPr>
          <p:nvPr/>
        </p:nvSpPr>
        <p:spPr>
          <a:xfrm>
            <a:off x="647700" y="1047750"/>
            <a:ext cx="626745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Pedidos e inventario en el mismo flujo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85089E2-E2D5-46BE-A460-D154899E9C94}"/>
              </a:ext>
            </a:extLst>
          </p:cNvPr>
          <p:cNvSpPr>
            <a:spLocks noGrp="1"/>
          </p:cNvSpPr>
          <p:nvPr/>
        </p:nvSpPr>
        <p:spPr>
          <a:xfrm>
            <a:off x="647700" y="2152650"/>
            <a:ext cx="62674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vista de bodega recibe solicitudes, controla entregas y devoluciones, y mantiene el historial de cada vale.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438334B-423E-4820-9CE5-12537F9115AC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4333875" cy="3429000"/>
          </a:xfrm>
          <a:prstGeom prst="roundRect">
            <a:avLst>
              <a:gd name="adj" fmla="val 3889"/>
            </a:avLst>
          </a:prstGeom>
          <a:solidFill>
            <a:srgbClr val="0B25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33" name="Imagen 32"/>
          <p:cNvPicPr>
            <a:picLocks noChangeAspect="1"/>
          </p:cNvPicPr>
          <p:nvPr/>
        </p:nvPicPr>
        <p:blipFill>
          <a:blip r:embed="rId3"/>
          <a:srcRect l="12000" t="2000" r="1000" b="5000"/>
          <a:stretch/>
        </p:blipFill>
        <p:spPr>
          <a:xfrm>
            <a:off x="742950" y="2895600"/>
            <a:ext cx="4143375" cy="3238500"/>
          </a:xfrm>
          <a:prstGeom prst="roundRect">
            <a:avLst>
              <a:gd name="adj" fmla="val 2941"/>
            </a:avLst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198D8D5-C82A-4623-8444-6409CBCDB73F}"/>
              </a:ext>
            </a:extLst>
          </p:cNvPr>
          <p:cNvSpPr>
            <a:spLocks noGrp="1"/>
          </p:cNvSpPr>
          <p:nvPr/>
        </p:nvSpPr>
        <p:spPr>
          <a:xfrm>
            <a:off x="5191125" y="2800350"/>
            <a:ext cx="1724025" cy="3429000"/>
          </a:xfrm>
          <a:prstGeom prst="roundRect">
            <a:avLst>
              <a:gd name="adj" fmla="val 7735"/>
            </a:avLst>
          </a:prstGeom>
          <a:solidFill>
            <a:srgbClr val="EEF3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4"/>
          <a:srcRect l="1000" t="5000" r="1000" b="39000"/>
          <a:stretch/>
        </p:blipFill>
        <p:spPr>
          <a:xfrm>
            <a:off x="5286375" y="2895600"/>
            <a:ext cx="1533525" cy="3238500"/>
          </a:xfrm>
          <a:prstGeom prst="roundRect">
            <a:avLst>
              <a:gd name="adj" fmla="val 6211"/>
            </a:avLst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AC33305C-9C55-4DD1-97F4-3D12D1520015}"/>
              </a:ext>
            </a:extLst>
          </p:cNvPr>
          <p:cNvSpPr>
            <a:spLocks noGrp="1"/>
          </p:cNvSpPr>
          <p:nvPr/>
        </p:nvSpPr>
        <p:spPr>
          <a:xfrm>
            <a:off x="647700" y="632460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Escritorio y teléfono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FDCC5A2-B2C6-4E45-8D96-2971BA393BBE}"/>
              </a:ext>
            </a:extLst>
          </p:cNvPr>
          <p:cNvSpPr>
            <a:spLocks noGrp="1"/>
          </p:cNvSpPr>
          <p:nvPr/>
        </p:nvSpPr>
        <p:spPr>
          <a:xfrm>
            <a:off x="647700" y="69723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476D0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562EB3A-5C37-40B7-89EA-94094C00DD52}"/>
              </a:ext>
            </a:extLst>
          </p:cNvPr>
          <p:cNvSpPr>
            <a:spLocks noGrp="1"/>
          </p:cNvSpPr>
          <p:nvPr/>
        </p:nvSpPr>
        <p:spPr>
          <a:xfrm>
            <a:off x="838200" y="6896100"/>
            <a:ext cx="607695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Solicitud asociada: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cada pedido mantiene proyecto, módulo, serie, responsable y materiales.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F04700CA-51C8-4E7C-BCE6-12E9926DBF59}"/>
              </a:ext>
            </a:extLst>
          </p:cNvPr>
          <p:cNvSpPr>
            <a:spLocks noGrp="1"/>
          </p:cNvSpPr>
          <p:nvPr/>
        </p:nvSpPr>
        <p:spPr>
          <a:xfrm>
            <a:off x="647700" y="7524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476D0"/>
          </a:solidFill>
          <a:ln w="0">
            <a:noFill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EC4BCC6-7090-487D-978B-1002E9942E7C}"/>
              </a:ext>
            </a:extLst>
          </p:cNvPr>
          <p:cNvSpPr>
            <a:spLocks noGrp="1"/>
          </p:cNvSpPr>
          <p:nvPr/>
        </p:nvSpPr>
        <p:spPr>
          <a:xfrm>
            <a:off x="838200" y="7448550"/>
            <a:ext cx="607695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Aprobación identificada: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el vale muestra quién autorizó la entrega y quién recibió.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DB21DDF-8D61-4DEB-9538-AD0135DF9310}"/>
              </a:ext>
            </a:extLst>
          </p:cNvPr>
          <p:cNvSpPr>
            <a:spLocks noGrp="1"/>
          </p:cNvSpPr>
          <p:nvPr/>
        </p:nvSpPr>
        <p:spPr>
          <a:xfrm>
            <a:off x="647700" y="80772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476D0"/>
          </a:solidFill>
          <a:ln w="0">
            <a:noFill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8AFE0E4-80C8-45FA-B66A-1BD116F1EFA7}"/>
              </a:ext>
            </a:extLst>
          </p:cNvPr>
          <p:cNvSpPr>
            <a:spLocks noGrp="1"/>
          </p:cNvSpPr>
          <p:nvPr/>
        </p:nvSpPr>
        <p:spPr>
          <a:xfrm>
            <a:off x="838200" y="8001000"/>
            <a:ext cx="607695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Inventario operativo: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entradas, salidas y saldo final se consultan desde la misma vista.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79E649E8-A5A7-4FD9-9DF9-21058BCECAFB}"/>
              </a:ext>
            </a:extLst>
          </p:cNvPr>
          <p:cNvSpPr>
            <a:spLocks noGrp="1"/>
          </p:cNvSpPr>
          <p:nvPr/>
        </p:nvSpPr>
        <p:spPr>
          <a:xfrm>
            <a:off x="647700" y="86296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476D0"/>
          </a:solidFill>
          <a:ln w="0">
            <a:noFill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B0785EF-4B8B-493A-BD63-D557B2D9A1D8}"/>
              </a:ext>
            </a:extLst>
          </p:cNvPr>
          <p:cNvSpPr>
            <a:spLocks noGrp="1"/>
          </p:cNvSpPr>
          <p:nvPr/>
        </p:nvSpPr>
        <p:spPr>
          <a:xfrm>
            <a:off x="838200" y="8553450"/>
            <a:ext cx="607695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Herramientas de bodega: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carga de inventario, exportación, historial de vales y códigos de barra.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4079546-FB14-43FB-B3E3-291D745D946F}"/>
              </a:ext>
            </a:extLst>
          </p:cNvPr>
          <p:cNvSpPr>
            <a:spLocks noGrp="1"/>
          </p:cNvSpPr>
          <p:nvPr/>
        </p:nvSpPr>
        <p:spPr>
          <a:xfrm>
            <a:off x="647700" y="91821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476D0"/>
          </a:solidFill>
          <a:ln w="0">
            <a:noFill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A32160A-16CF-4EB9-9C8F-1F6E880A64B8}"/>
              </a:ext>
            </a:extLst>
          </p:cNvPr>
          <p:cNvSpPr>
            <a:spLocks noGrp="1"/>
          </p:cNvSpPr>
          <p:nvPr/>
        </p:nvSpPr>
        <p:spPr>
          <a:xfrm>
            <a:off x="838200" y="9105900"/>
            <a:ext cx="607695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Notificaciones por rol: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bodega y analistas reciben los avisos que corresponden a sus permisos.</a:t>
            </a:r>
          </a:p>
        </p:txBody>
      </p:sp>
    </p:spTree>
    <p:extLst>
      <p:ext uri="{BB962C8B-B14F-4D97-AF65-F5344CB8AC3E}">
        <p14:creationId xmlns:p14="http://schemas.microsoft.com/office/powerpoint/2010/main" val="178190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C08B91B3-D42D-4EF3-AB5E-0A663FED21DF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12E1765-0DD4-49AA-B0E5-FA4FFDCAFCE8}"/>
              </a:ext>
            </a:extLst>
          </p:cNvPr>
          <p:cNvSpPr>
            <a:spLocks noGrp="1"/>
          </p:cNvSpPr>
          <p:nvPr/>
        </p:nvSpPr>
        <p:spPr>
          <a:xfrm>
            <a:off x="4438650" y="3238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GESTIÓN Y 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19F2B06-8BAC-4D7D-9AE3-060809E26585}"/>
              </a:ext>
            </a:extLst>
          </p:cNvPr>
          <p:cNvSpPr>
            <a:spLocks noGrp="1"/>
          </p:cNvSpPr>
          <p:nvPr/>
        </p:nvSpPr>
        <p:spPr>
          <a:xfrm>
            <a:off x="647700" y="10201275"/>
            <a:ext cx="6267450" cy="9525"/>
          </a:xfrm>
          <a:prstGeom prst="rect">
            <a:avLst/>
          </a:prstGeom>
          <a:solidFill>
            <a:srgbClr val="D7E0E6"/>
          </a:solidFill>
          <a:ln w="0">
            <a:noFill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5025782-BC3F-4D44-91DF-6E9C34919245}"/>
              </a:ext>
            </a:extLst>
          </p:cNvPr>
          <p:cNvSpPr>
            <a:spLocks noGrp="1"/>
          </p:cNvSpPr>
          <p:nvPr/>
        </p:nvSpPr>
        <p:spPr>
          <a:xfrm>
            <a:off x="647700" y="102965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A71B9B-9232-47FF-A064-1CFA49B7B72E}"/>
              </a:ext>
            </a:extLst>
          </p:cNvPr>
          <p:cNvSpPr>
            <a:spLocks noGrp="1"/>
          </p:cNvSpPr>
          <p:nvPr/>
        </p:nvSpPr>
        <p:spPr>
          <a:xfrm>
            <a:off x="6534150" y="1029652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BCD1D07-4E16-4D6E-8E7C-DB19E8A5D8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6267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GESTIÓN Y CONTROL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B2A8D52-5689-418F-A32C-69D4CCB1C01A}"/>
              </a:ext>
            </a:extLst>
          </p:cNvPr>
          <p:cNvSpPr>
            <a:spLocks noGrp="1"/>
          </p:cNvSpPr>
          <p:nvPr/>
        </p:nvSpPr>
        <p:spPr>
          <a:xfrm>
            <a:off x="647700" y="1047750"/>
            <a:ext cx="626745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95000"/>
              </a:lnSpc>
              <a:buNone/>
              <a:defRPr sz="29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Los datos permiten revisar diferencias antes del cierre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83511C-D2D1-4DFA-B0E2-F41AD6DDB1EB}"/>
              </a:ext>
            </a:extLst>
          </p:cNvPr>
          <p:cNvSpPr>
            <a:spLocks noGrp="1"/>
          </p:cNvSpPr>
          <p:nvPr/>
        </p:nvSpPr>
        <p:spPr>
          <a:xfrm>
            <a:off x="647700" y="2152650"/>
            <a:ext cx="62674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Los balances comparan cantidades retiradas y protocolizadas, y ayudan a enfocar la revisión donde existe una desviación.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A339271-D692-4DFD-B693-BFBC94C7D7E4}"/>
              </a:ext>
            </a:extLst>
          </p:cNvPr>
          <p:cNvSpPr>
            <a:spLocks noGrp="1"/>
          </p:cNvSpPr>
          <p:nvPr/>
        </p:nvSpPr>
        <p:spPr>
          <a:xfrm>
            <a:off x="647700" y="2819400"/>
            <a:ext cx="6267450" cy="3143250"/>
          </a:xfrm>
          <a:prstGeom prst="roundRect">
            <a:avLst>
              <a:gd name="adj" fmla="val 4242"/>
            </a:avLst>
          </a:prstGeom>
          <a:solidFill>
            <a:srgbClr val="20202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3"/>
          <a:srcRect l="1000" r="1000"/>
          <a:stretch/>
        </p:blipFill>
        <p:spPr>
          <a:xfrm>
            <a:off x="762000" y="2933700"/>
            <a:ext cx="6038850" cy="2914650"/>
          </a:xfrm>
          <a:prstGeom prst="roundRect">
            <a:avLst>
              <a:gd name="adj" fmla="val 3268"/>
            </a:avLst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7B9B331-DBB8-417E-BE1A-D17FFBF87B3D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1381125" cy="1066800"/>
          </a:xfrm>
          <a:prstGeom prst="roundRect">
            <a:avLst>
              <a:gd name="adj" fmla="val 8036"/>
            </a:avLst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B130CF8-7246-4CBC-81AF-312CA8240022}"/>
              </a:ext>
            </a:extLst>
          </p:cNvPr>
          <p:cNvSpPr>
            <a:spLocks noGrp="1"/>
          </p:cNvSpPr>
          <p:nvPr/>
        </p:nvSpPr>
        <p:spPr>
          <a:xfrm>
            <a:off x="762000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RETIRO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5AFD49F-C270-48C1-96C2-684DA7B1BAB6}"/>
              </a:ext>
            </a:extLst>
          </p:cNvPr>
          <p:cNvSpPr>
            <a:spLocks noGrp="1"/>
          </p:cNvSpPr>
          <p:nvPr/>
        </p:nvSpPr>
        <p:spPr>
          <a:xfrm>
            <a:off x="762000" y="6734175"/>
            <a:ext cx="11525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Cantidad informada por bodega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49FB2F2-F653-4794-A07C-0DF4370F798D}"/>
              </a:ext>
            </a:extLst>
          </p:cNvPr>
          <p:cNvSpPr>
            <a:spLocks noGrp="1"/>
          </p:cNvSpPr>
          <p:nvPr/>
        </p:nvSpPr>
        <p:spPr>
          <a:xfrm>
            <a:off x="2219325" y="6286500"/>
            <a:ext cx="1381125" cy="1066800"/>
          </a:xfrm>
          <a:prstGeom prst="roundRect">
            <a:avLst>
              <a:gd name="adj" fmla="val 8036"/>
            </a:avLst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1C50260-9AA6-449C-A84D-6AEA09B5331B}"/>
              </a:ext>
            </a:extLst>
          </p:cNvPr>
          <p:cNvSpPr>
            <a:spLocks noGrp="1"/>
          </p:cNvSpPr>
          <p:nvPr/>
        </p:nvSpPr>
        <p:spPr>
          <a:xfrm>
            <a:off x="233362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COBRO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8B7F5D8-7882-45DF-8FC8-693FC80622C8}"/>
              </a:ext>
            </a:extLst>
          </p:cNvPr>
          <p:cNvSpPr>
            <a:spLocks noGrp="1"/>
          </p:cNvSpPr>
          <p:nvPr/>
        </p:nvSpPr>
        <p:spPr>
          <a:xfrm>
            <a:off x="2333625" y="6734175"/>
            <a:ext cx="11525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Cantidad registrada en protocolos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007F41E-FB7A-43C4-9322-7DCF53781A84}"/>
              </a:ext>
            </a:extLst>
          </p:cNvPr>
          <p:cNvSpPr>
            <a:spLocks noGrp="1"/>
          </p:cNvSpPr>
          <p:nvPr/>
        </p:nvSpPr>
        <p:spPr>
          <a:xfrm>
            <a:off x="3790950" y="6286500"/>
            <a:ext cx="1381125" cy="1066800"/>
          </a:xfrm>
          <a:prstGeom prst="roundRect">
            <a:avLst>
              <a:gd name="adj" fmla="val 8036"/>
            </a:avLst>
          </a:prstGeom>
          <a:solidFill>
            <a:srgbClr val="FFF6D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EF21EE4-EF78-428B-82CA-2DC5A658F2F5}"/>
              </a:ext>
            </a:extLst>
          </p:cNvPr>
          <p:cNvSpPr>
            <a:spLocks noGrp="1"/>
          </p:cNvSpPr>
          <p:nvPr/>
        </p:nvSpPr>
        <p:spPr>
          <a:xfrm>
            <a:off x="3905250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A869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86900"/>
                </a:solidFill>
                <a:latin typeface="Arial"/>
                <a:ea typeface="Arial"/>
                <a:cs typeface="Arial"/>
              </a:rPr>
              <a:t>DIFERENCIA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B8CE055-7074-49EF-ABE1-6AE53716FE74}"/>
              </a:ext>
            </a:extLst>
          </p:cNvPr>
          <p:cNvSpPr>
            <a:spLocks noGrp="1"/>
          </p:cNvSpPr>
          <p:nvPr/>
        </p:nvSpPr>
        <p:spPr>
          <a:xfrm>
            <a:off x="3905250" y="6734175"/>
            <a:ext cx="11525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Unidades que requieren revisión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B54A41A-8080-477F-B0AE-43709247A874}"/>
              </a:ext>
            </a:extLst>
          </p:cNvPr>
          <p:cNvSpPr>
            <a:spLocks noGrp="1"/>
          </p:cNvSpPr>
          <p:nvPr/>
        </p:nvSpPr>
        <p:spPr>
          <a:xfrm>
            <a:off x="5362575" y="6286500"/>
            <a:ext cx="1381125" cy="1066800"/>
          </a:xfrm>
          <a:prstGeom prst="roundRect">
            <a:avLst>
              <a:gd name="adj" fmla="val 8036"/>
            </a:avLst>
          </a:prstGeom>
          <a:solidFill>
            <a:srgbClr val="F8FAF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BCF46FD-BAF3-432C-A6C3-0536ED18E840}"/>
              </a:ext>
            </a:extLst>
          </p:cNvPr>
          <p:cNvSpPr>
            <a:spLocks noGrp="1"/>
          </p:cNvSpPr>
          <p:nvPr/>
        </p:nvSpPr>
        <p:spPr>
          <a:xfrm>
            <a:off x="5476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2068F28-F9F8-4612-B43F-07D23689403A}"/>
              </a:ext>
            </a:extLst>
          </p:cNvPr>
          <p:cNvSpPr>
            <a:spLocks noGrp="1"/>
          </p:cNvSpPr>
          <p:nvPr/>
        </p:nvSpPr>
        <p:spPr>
          <a:xfrm>
            <a:off x="5476875" y="6734175"/>
            <a:ext cx="11525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Valor asociado a la desviación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44EE7E3-C830-4C62-B70F-AE11CA2AB27A}"/>
              </a:ext>
            </a:extLst>
          </p:cNvPr>
          <p:cNvSpPr>
            <a:spLocks noGrp="1"/>
          </p:cNvSpPr>
          <p:nvPr/>
        </p:nvSpPr>
        <p:spPr>
          <a:xfrm>
            <a:off x="647700" y="78105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Siguiente etapa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DC57E18F-BCBA-4D0D-BC5B-21640B499602}"/>
              </a:ext>
            </a:extLst>
          </p:cNvPr>
          <p:cNvSpPr>
            <a:spLocks noGrp="1"/>
          </p:cNvSpPr>
          <p:nvPr/>
        </p:nvSpPr>
        <p:spPr>
          <a:xfrm>
            <a:off x="647700" y="8324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1D6D1"/>
          </a:solidFill>
          <a:ln w="0">
            <a:noFill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80CAF0E-7345-4005-9E5F-D375E3EF67B4}"/>
              </a:ext>
            </a:extLst>
          </p:cNvPr>
          <p:cNvSpPr>
            <a:spLocks noGrp="1"/>
          </p:cNvSpPr>
          <p:nvPr/>
        </p:nvSpPr>
        <p:spPr>
          <a:xfrm>
            <a:off x="838200" y="8248650"/>
            <a:ext cx="6076950" cy="752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Publicación: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alojar la aplicación en un dominio propio con certificados y respaldos definidos.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DFF50820-D13E-4409-ACC3-8FCC213F77E7}"/>
              </a:ext>
            </a:extLst>
          </p:cNvPr>
          <p:cNvSpPr>
            <a:spLocks noGrp="1"/>
          </p:cNvSpPr>
          <p:nvPr/>
        </p:nvSpPr>
        <p:spPr>
          <a:xfrm>
            <a:off x="647700" y="89249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31D6D1"/>
          </a:solidFill>
          <a:ln w="0">
            <a:noFill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1951472-5AD5-4FDA-94A8-303359F5E836}"/>
              </a:ext>
            </a:extLst>
          </p:cNvPr>
          <p:cNvSpPr>
            <a:spLocks noGrp="1"/>
          </p:cNvSpPr>
          <p:nvPr/>
        </p:nvSpPr>
        <p:spPr>
          <a:xfrm>
            <a:off x="838200" y="8848725"/>
            <a:ext cx="6076950" cy="752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Integración: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evaluar intercambio de datos con Unisoft mediante archivos, API o una capa intermedia.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600E24E6-B91D-4610-82E3-C280C02C8F43}"/>
              </a:ext>
            </a:extLst>
          </p:cNvPr>
          <p:cNvSpPr>
            <a:spLocks noGrp="1"/>
          </p:cNvSpPr>
          <p:nvPr/>
        </p:nvSpPr>
        <p:spPr>
          <a:xfrm>
            <a:off x="647700" y="95250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1D6D1"/>
          </a:solidFill>
          <a:ln w="0">
            <a:noFill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CCCA2F0-70FC-4EFF-B134-07C77912DAE1}"/>
              </a:ext>
            </a:extLst>
          </p:cNvPr>
          <p:cNvSpPr>
            <a:spLocks noGrp="1"/>
          </p:cNvSpPr>
          <p:nvPr/>
        </p:nvSpPr>
        <p:spPr>
          <a:xfrm>
            <a:off x="838200" y="9448800"/>
            <a:ext cx="6076950" cy="752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Gobierno de datos: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formalizar responsables, revisiones periódicas y criterios para corregir diferencias.</a:t>
            </a:r>
          </a:p>
        </p:txBody>
      </p:sp>
    </p:spTree>
    <p:extLst>
      <p:ext uri="{BB962C8B-B14F-4D97-AF65-F5344CB8AC3E}">
        <p14:creationId xmlns:p14="http://schemas.microsoft.com/office/powerpoint/2010/main" val="10425629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Microsoft Office PowerPoint</Application>
  <DocSecurity>0</DocSecurity>
  <PresentationFormat>Personalizado</PresentationFormat>
  <Paragraphs>146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Aptos</vt:lpstr>
      <vt:lpstr>Arial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carlos cerna</cp:lastModifiedBy>
  <cp:revision>1</cp:revision>
  <dcterms:created xsi:type="dcterms:W3CDTF">2026-09-29T18:09:48Z</dcterms:created>
  <dcterms:modified xsi:type="dcterms:W3CDTF">2026-09-29T18:13:31Z</dcterms:modified>
</cp:coreProperties>
</file>