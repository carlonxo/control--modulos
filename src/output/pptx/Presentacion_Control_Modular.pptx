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93b8c19ff344ab" /><Relationship Type="http://schemas.openxmlformats.org/officeDocument/2006/relationships/extended-properties" Target="/docProps/app.xml" Id="Rb7642d5354e2480a" /><Relationship Type="http://schemas.openxmlformats.org/officeDocument/2006/relationships/officeDocument" Target="/ppt/presentation.xml" Id="Rb5ca75e1cfba4f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4384772df742a9"/>
  </p:sldMasterIdLst>
  <p:notesMasterIdLst>
    <p:notesMasterId xmlns:r="http://schemas.openxmlformats.org/officeDocument/2006/relationships" r:id="R30cd6fc6ce874c1a"/>
  </p:notesMasterIdLst>
  <p:sldIdLst>
    <p:sldId xmlns:r="http://schemas.openxmlformats.org/officeDocument/2006/relationships" id="256" r:id="R4f00deda7c8c410c"/>
    <p:sldId xmlns:r="http://schemas.openxmlformats.org/officeDocument/2006/relationships" id="257" r:id="Rde9df5963c0c4ba1"/>
    <p:sldId xmlns:r="http://schemas.openxmlformats.org/officeDocument/2006/relationships" id="258" r:id="R0eb17aee1d604d3c"/>
    <p:sldId xmlns:r="http://schemas.openxmlformats.org/officeDocument/2006/relationships" id="259" r:id="R434e66286dea4565"/>
    <p:sldId xmlns:r="http://schemas.openxmlformats.org/officeDocument/2006/relationships" id="260" r:id="Re9abdb94c3164aec"/>
    <p:sldId xmlns:r="http://schemas.openxmlformats.org/officeDocument/2006/relationships" id="261" r:id="R862adb6d8ba54084"/>
    <p:sldId xmlns:r="http://schemas.openxmlformats.org/officeDocument/2006/relationships" id="262" r:id="Rafb0a1d4b5ff4f8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3dce59c79448f4" /><Relationship Type="http://schemas.openxmlformats.org/officeDocument/2006/relationships/slideMaster" Target="/ppt/slideMasters/slideMaster1.xml" Id="Rf24384772df742a9" /><Relationship Type="http://schemas.openxmlformats.org/officeDocument/2006/relationships/notesMaster" Target="/ppt/notesMasters/notesMaster1.xml" Id="R30cd6fc6ce874c1a" /><Relationship Type="http://schemas.openxmlformats.org/officeDocument/2006/relationships/presProps" Target="/ppt/presProps.xml" Id="Rd55c380d9cc5448f" /><Relationship Type="http://schemas.openxmlformats.org/officeDocument/2006/relationships/tableStyles" Target="/ppt/tableStyles.xml" Id="Rb502c018ffc24c0b" /><Relationship Type="http://schemas.openxmlformats.org/officeDocument/2006/relationships/slide" Target="/ppt/slides/slide1.xml" Id="R4f00deda7c8c410c" /><Relationship Type="http://schemas.openxmlformats.org/officeDocument/2006/relationships/slide" Target="/ppt/slides/slide2.xml" Id="Rde9df5963c0c4ba1" /><Relationship Type="http://schemas.openxmlformats.org/officeDocument/2006/relationships/slide" Target="/ppt/slides/slide3.xml" Id="R0eb17aee1d604d3c" /><Relationship Type="http://schemas.openxmlformats.org/officeDocument/2006/relationships/slide" Target="/ppt/slides/slide4.xml" Id="R434e66286dea4565" /><Relationship Type="http://schemas.openxmlformats.org/officeDocument/2006/relationships/slide" Target="/ppt/slides/slide5.xml" Id="Re9abdb94c3164aec" /><Relationship Type="http://schemas.openxmlformats.org/officeDocument/2006/relationships/slide" Target="/ppt/slides/slide6.xml" Id="R862adb6d8ba54084" /><Relationship Type="http://schemas.openxmlformats.org/officeDocument/2006/relationships/slide" Target="/ppt/slides/slide7.xml" Id="Rafb0a1d4b5ff4f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8e0625a06c4b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883645d2374f0f" /><Relationship Type="http://schemas.openxmlformats.org/officeDocument/2006/relationships/notesMaster" Target="/ppt/notesMasters/notesMaster1.xml" Id="R5525f434e01e4e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8f3f9639c54928" /><Relationship Type="http://schemas.openxmlformats.org/officeDocument/2006/relationships/notesMaster" Target="/ppt/notesMasters/notesMaster1.xml" Id="Rf67fcc9e722648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769e8f8e77489b" /><Relationship Type="http://schemas.openxmlformats.org/officeDocument/2006/relationships/notesMaster" Target="/ppt/notesMasters/notesMaster1.xml" Id="R4b504216b6414e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dfd577eee14280" /><Relationship Type="http://schemas.openxmlformats.org/officeDocument/2006/relationships/notesMaster" Target="/ppt/notesMasters/notesMaster1.xml" Id="R9d5c640595c34b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9679f1a4a643a9" /><Relationship Type="http://schemas.openxmlformats.org/officeDocument/2006/relationships/notesMaster" Target="/ppt/notesMasters/notesMaster1.xml" Id="R9573627cccc541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7aa3ac4a0f401b" /><Relationship Type="http://schemas.openxmlformats.org/officeDocument/2006/relationships/notesMaster" Target="/ppt/notesMasters/notesMaster1.xml" Id="R6cc5bfe562444b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cb7e6debbe4680" /><Relationship Type="http://schemas.openxmlformats.org/officeDocument/2006/relationships/notesMaster" Target="/ppt/notesMasters/notesMaster1.xml" Id="Rddb776d1537646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inspirado en el documento de referencia entregado por el usuario. Captura de la aplicación Control Modular.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e0720f22848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9e3717d0d14c5a" /><Relationship Type="http://schemas.openxmlformats.org/officeDocument/2006/relationships/slideLayout" Target="/ppt/slideLayouts/slideLayout1.xml" Id="R8b06f6cbe7f345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06f6cbe7f345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34a7fcdc2492d" /><Relationship Type="http://schemas.openxmlformats.org/officeDocument/2006/relationships/image" Target="/ppt/media/image.png" Id="R32b515e65e7540ba" /><Relationship Type="http://schemas.openxmlformats.org/officeDocument/2006/relationships/notesSlide" Target="/ppt/notesSlides/notesSlide1.xml" Id="R661a65ffed8141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fb2bb452e4fb4" /><Relationship Type="http://schemas.openxmlformats.org/officeDocument/2006/relationships/notesSlide" Target="/ppt/notesSlides/notesSlide2.xml" Id="R25ab6b5cae2449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4558f278b472b" /><Relationship Type="http://schemas.openxmlformats.org/officeDocument/2006/relationships/notesSlide" Target="/ppt/notesSlides/notesSlide3.xml" Id="R16fd08001f774d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1c742c37b4676" /><Relationship Type="http://schemas.openxmlformats.org/officeDocument/2006/relationships/image" Target="/ppt/media/image2.png" Id="Rdcdd118dd8ab40f7" /><Relationship Type="http://schemas.openxmlformats.org/officeDocument/2006/relationships/notesSlide" Target="/ppt/notesSlides/notesSlide4.xml" Id="R07e70b5369c540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c4aa52ce146ae" /><Relationship Type="http://schemas.openxmlformats.org/officeDocument/2006/relationships/image" Target="/ppt/media/image3.png" Id="Rdc645b8d5ae54b9b" /><Relationship Type="http://schemas.openxmlformats.org/officeDocument/2006/relationships/notesSlide" Target="/ppt/notesSlides/notesSlide5.xml" Id="R7cd891415bb946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00966bbb043eb" /><Relationship Type="http://schemas.openxmlformats.org/officeDocument/2006/relationships/image" Target="/ppt/media/image4.png" Id="R188db2430a384255" /><Relationship Type="http://schemas.openxmlformats.org/officeDocument/2006/relationships/image" Target="/ppt/media/image.jpeg" Id="R61cf53e4848341cc" /><Relationship Type="http://schemas.openxmlformats.org/officeDocument/2006/relationships/notesSlide" Target="/ppt/notesSlides/notesSlide6.xml" Id="Ree77a32508ce46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56cc19bcb4bb9" /><Relationship Type="http://schemas.openxmlformats.org/officeDocument/2006/relationships/image" Target="/ppt/media/image5.png" Id="R901aee1342b6432e" /><Relationship Type="http://schemas.openxmlformats.org/officeDocument/2006/relationships/notesSlide" Target="/ppt/notesSlides/notesSlide7.xml" Id="R728bad71bd1a4d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71496-3C90-4947-9224-61E37131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733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4824A-2A3F-4F2B-8097-17511342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685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D526C-D492-46C1-A790-88CC382A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773B3-D57D-4C3F-A151-FB6A6840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PRESENTACIÓN A GERENCIA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D93DD-A9E9-46ED-A86A-38A614A1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29287-BF3E-42E5-BC88-BC7A4F5A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C9D8D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9D8DF"/>
                </a:solidFill>
                <a:latin typeface="Arial"/>
                <a:ea typeface="Arial"/>
                <a:cs typeface="Arial"/>
              </a:rPr>
              <a:t>Gestión integral de módulos, protocolos, mantención y bodega en una sola aplicación.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973DE-1B30-4167-B8D6-D3E41C75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34000"/>
            <a:ext cx="5334000" cy="3200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515e65e7540ba"/>
          <a:srcRect xmlns:a="http://schemas.openxmlformats.org/drawingml/2006/main" l="12000" t="0" r="0" b="9000"/>
          <a:stretch xmlns:a="http://schemas.openxmlformats.org/drawingml/2006/main"/>
        </p:blipFill>
        <p:spPr>
          <a:xfrm xmlns:a="http://schemas.openxmlformats.org/drawingml/2006/main">
            <a:off x="1676400" y="5429250"/>
            <a:ext cx="5143500" cy="3009900"/>
          </a:xfrm>
          <a:prstGeom xmlns:a="http://schemas.openxmlformats.org/drawingml/2006/main" prst="roundRect">
            <a:avLst>
              <a:gd name="adj" fmla="val 316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D2C2C-08E2-435E-A31F-5711565C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9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APLICACIÓN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2E70C-781E-449E-B3A8-6FEB6F50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258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C8AEA-8E31-4831-98D6-F0C953DB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99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7DA3E-6905-4287-84F3-3CFBEED2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9258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00A90-5CD3-4946-B552-E2B8186C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99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643FC-34B2-4E65-8E83-925F59C1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9258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</p:spTree>
    <p:extLst>
      <p:ext uri="{BB962C8B-B14F-4D97-AF65-F5344CB8AC3E}">
        <p14:creationId xmlns:p14="http://schemas.microsoft.com/office/powerpoint/2010/main" val="13353716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AAAD41-835B-4DF7-915E-08261B2F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A48A1-3D08-40E3-B588-18CF93C2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B2E98-0CBD-4753-B76A-BEA375A2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F3E0B-389A-4D36-986C-322A6A79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1AF1B-B17D-4C65-9B66-1AF35123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2B7F4-2729-4A24-B119-721FC3DB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31B99-4D99-42EA-BEBC-C74F71EC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Una sola trazabilidad desde la línea hasta bodega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CDBC5-FFB1-429D-9242-459BE0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aplicación conecta el estado físico de cada módulo con sus materiales, pruebas eléctricas, protocolos y costos asociados.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C297C-B4F1-4F87-89BF-6AC76033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295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EEE8"/>
          </a:solidFill>
          <a:ln xmlns:a="http://schemas.openxmlformats.org/drawingml/2006/main" w="9525">
            <a:solidFill>
              <a:srgbClr val="E7D4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4AC7E-86C8-48F8-9F46-B2846677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47625" cy="2476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675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0EB8D-09C9-4638-8214-80CA1590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80AFE-0497-4101-94C3-D3A2CE53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51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11D9E-C871-4175-A0B0-D4D3281F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Estado de módulos disperso entre personas y registros.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32D3F-1D89-4A1C-BBE3-7D7554F5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51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F828C-A83D-47ED-A823-8C7EFBE0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86225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Solicitudes de material sin una trazabilidad uniforme.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E550D-E313-4D51-A8D6-F439BCFF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51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6B49C-C7F0-46A7-8ABD-5FDC473F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Protocolos y costos revisados en etapas separadas.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09066-3BB6-4BAB-8506-E98BFA15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51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90ABA-751F-4D5D-BD54-E61CEED3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Dificultad para detectar diferencias entre retiro y cobro.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96F8C-38C2-437C-A032-5086A967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00375"/>
            <a:ext cx="295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C5E9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B286F-983B-4E60-9148-A7355455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00375"/>
            <a:ext cx="47625" cy="2476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98B5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3A300-3953-4922-BC9F-B2579329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90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 Control Modular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92895-39D6-4BF1-A42D-72778B94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147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9D87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1C9B4F-C28F-4036-9DE6-230456B6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38550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Estado por serie y línea visible en tiempo real.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DF01E-2EB6-41B1-BC70-DBD93A4B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624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9D87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C3687-29AA-4E9C-97C3-574BD496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86225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Pedidos de bodega ligados al módulo y al responsable.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962D5-187E-4291-8B27-D38F4727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101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9D87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ED7A12-FFD9-43AE-9ED0-AD076719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33900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Protocolos con detalle de materiales y valores.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2FB53E-E6DA-4877-939C-EE187132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57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9D87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A4925E-2383-4C96-8230-73BF707D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81575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Balances que comparan cantidades retiradas y cobradas.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A15F8F-5BB6-4C2A-8C30-952F34F9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533018-D83E-40C7-91F7-D17FFBF0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72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CCFC2D-69FA-4302-BABC-1CB56ED5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674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56761B-86EC-4BC3-82CF-09A9FE2E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serie conserva su historia y responsables.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0D1FF6-B77D-4634-80A6-9F1B3095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57875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0D709C-743A-4374-9385-30425FF4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972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CEBA51-4D16-49E0-BA2A-864511AE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2674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Control operativo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0AB9EA-A1BF-45FF-B6AF-B5E67C97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5436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Las líneas muestran estados y trabajos pendientes.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00AD03-D3F0-493A-BFDB-B4BDF86B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857875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0F50D0-72D6-406F-B331-C512C95C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72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E1B843-1B5C-4DF0-B177-3D68B2C3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2674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Bodega conectada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944A04-EBC0-485F-B9B4-63F0EF3C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5436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Pedidos, devoluciones e inventario quedan vinculados.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97737C-42E7-4118-A5A1-CD452D0F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0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94293D-2BBB-410F-9A80-AB09E539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53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469E8A-B82D-4234-83F3-017B7E4E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485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Control de costos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D2525D-19BF-4312-A5F3-A6C1B13A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248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Protocolos y balances permiten revisar diferencias.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FCBEB8-9132-4CCE-A6FF-EA17AFDD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239000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8042A4-3398-4696-AF14-68C7DDBA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353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D6E9BF-9589-410D-9227-36DE9924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6485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Acceso por rol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AD95F6-6C22-49A1-9CEC-F3E6356E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9248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usuario ve las acciones que le corresponden.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ACAFAE-98DD-47D5-8CD9-EF2E0026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7239000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9070DB-BFF5-43F6-A048-68B29C33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353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0967EF-8DBE-4D5B-A10F-A02A6B80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6485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Uso en terreno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16FF54-3843-4872-8C4A-4158E3B3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9248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interfaz funciona en computador y teléfono.</a:t>
            </a:r>
          </a:p>
        </p:txBody>
      </p:sp>
    </p:spTree>
    <p:extLst>
      <p:ext uri="{BB962C8B-B14F-4D97-AF65-F5344CB8AC3E}">
        <p14:creationId xmlns:p14="http://schemas.microsoft.com/office/powerpoint/2010/main" val="1492145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FC59C8-5254-44A4-A941-DC221F28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2D122-08EF-4CFB-84FB-B11B72EA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CÓMO FUNCIONA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2F6F3-6563-4D51-BDD7-2BA5DF87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E65F4-44C1-4445-AE5D-0DE94171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E1C00-F5D6-4FB8-A6BF-A59A3A4F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CDD24-F404-470D-BD77-97554225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CÓMO FUNCIONA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DE0EB-5222-4212-B15F-76F4FCE2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Un flujo operativo conectado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3BDB2-21DE-4D10-96B5-7D7E5690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acción queda asociada a una serie, una línea, una persona y una fecha.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418F5-D776-4D44-9491-26D3724E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66800" cy="18097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73450-F40D-4991-BCFA-B927AC3A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ED67A-3CA0-45DC-A78C-8C6BED08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8D30C-6F38-4281-8B37-C1A92899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Ingreso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706AE-CC13-4957-8441-66FB1680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80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 registra la serie y se asigna a una línea.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E335E-93B7-415A-A92E-0B220A6B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24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5E6D7-079B-4A18-979D-4DA68B27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57500"/>
            <a:ext cx="1066800" cy="18097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62D26-2059-4359-A662-39C559A5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104AB-9EBC-4D46-B337-C3AE3C38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AAD11-C20A-4141-A053-FA44AFB1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48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Mantención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08831-682F-4FEC-B131-23AE8EEA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67150"/>
            <a:ext cx="80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El equipo registra notas y solicita materiales.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72493-305E-477D-A440-23D4A1AE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24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62B34-4E9E-4858-B82D-0643FCE7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57500"/>
            <a:ext cx="1066800" cy="18097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F70B7-7116-4B8F-A46A-077749E0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CDFE7-35B5-4A92-8984-FBF233DD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FE1E6D-B31B-4DDB-9A7E-1F4C111D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48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6DAF6-59B7-40AC-801B-21C39CFB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67150"/>
            <a:ext cx="80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El pedido se aprueba, prepara y entrega.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886655-6227-4184-A761-D24E0B1A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F2C5D5-6BF6-4046-81D1-72F036D7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1066800" cy="18097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E6DD41-733D-4138-A659-AA1204D1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BED303-F14A-4959-87BE-9A716B28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04CDB3-E6E9-452F-91E1-873AA03F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48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Prueba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E532BF-7060-4DF2-BC12-CB2AEC46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67150"/>
            <a:ext cx="80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prueba eléctrica actualiza el estado del módulo.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AA942A-A0CA-4873-9F40-1C15C1D5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C8B159-61CD-457D-AB03-42F34C6F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1066800" cy="18097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0D8E93-4EA9-4553-8769-F79EA8FA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579004-74F9-419E-876C-54905C42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F9C6EE-9F86-484D-AAD3-42C56664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48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Protocolo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5E0EFD-169E-4A3B-BDCE-5F5D64AA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67150"/>
            <a:ext cx="80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Materiales, valores e historial quedan disponibles.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86D157-8B1C-4BB0-B19E-45EEE019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Roles del sistema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20440E-0230-4DCB-B3A6-ED240A6B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626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9CC472-9D30-4807-AD25-53391AC4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28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B27F64-61CB-42CA-8332-798C5060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5245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RESPONSABILIDAD PRINCIPAL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EE98AE-B0CB-4E6E-BD17-6ACF6640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6267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490970-920E-4F73-8A5E-60A0C035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28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09B954-D706-4AC1-80E8-31D0D3BF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0483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Configura usuarios, permisos, catálogos y revisa toda la operación.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1C08A4-4B8A-4641-9D95-528B5D95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6267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C5A157-0F5C-4821-A051-BE336687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128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Operador / eléctrico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327E29-B477-4807-8297-5E8B7CFB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6960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Actualiza módulos, solicita materiales y registra pruebas o protocolos según permiso.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EA70B7-7E7C-4685-AB11-86DF0CE9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58050"/>
            <a:ext cx="6267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C83642-A834-41DF-96D2-007A396F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58050"/>
            <a:ext cx="128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Bodega / analista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E9D81E-2F05-4418-A489-18C3561D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73437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Recibe avisos, gestiona pedidos, inventario, vales y devoluciones.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FC4E2E-8BAA-4DA0-9D1C-99E13457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0"/>
            <a:ext cx="6267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B32CE8-F3C9-4D4B-83C9-E40E50EE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Jefatura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093CDB-5CEB-4F63-9504-F5D385EA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79914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Consulta indicadores, balances, auditoría e historial por serie.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1690E8-44E0-4742-8478-D2F60FF9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858250"/>
            <a:ext cx="62674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2F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9983D2-7DAE-43E4-BB80-9D612CB6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010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Datos conectados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35F1FD-E41F-4E89-9EFC-4100A168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0"/>
            <a:ext cx="592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Supabase centraliza la información y los permisos. La aplicación permite exportar listados e inventario cuando el equipo necesita trabajar en Excel.</a:t>
            </a:r>
          </a:p>
        </p:txBody>
      </p:sp>
    </p:spTree>
    <p:extLst>
      <p:ext uri="{BB962C8B-B14F-4D97-AF65-F5344CB8AC3E}">
        <p14:creationId xmlns:p14="http://schemas.microsoft.com/office/powerpoint/2010/main" val="6754535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CDF11-C9DF-4F77-847B-569F3AE0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F87B6-5A4D-4507-9348-3DE950E1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DE MÓDULOS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7DE7A-19CD-4A73-B5DE-66C3CDAF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F7BF2-04E6-4CB5-9780-2762608C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27CEC-1761-4BAC-B289-AC657953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86555-DACB-4B93-9F8E-104F52A8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CONTROL DE MÓDULOS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67EBC-EFED-4418-8051-C9767635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El estado de cada serie queda visible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3DCE2-6C3D-4CBA-8B71-5DCAA47E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Las tarjetas permiten reconocer rápidamente qué módulos están disponibles, pendientes, en mantención o con una alerta.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88654-42D7-4DEC-8FDD-20A649CF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267450" cy="4048125"/>
          </a:xfrm>
          <a:prstGeom xmlns:a="http://schemas.openxmlformats.org/drawingml/2006/main" prst="roundRect">
            <a:avLst>
              <a:gd name="adj" fmla="val 3294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d118dd8ab40f7"/>
          <a:srcRect xmlns:a="http://schemas.openxmlformats.org/drawingml/2006/main" l="1000" t="4000" r="1000" b="5000"/>
          <a:stretch xmlns:a="http://schemas.openxmlformats.org/drawingml/2006/main"/>
        </p:blipFill>
        <p:spPr>
          <a:xfrm xmlns:a="http://schemas.openxmlformats.org/drawingml/2006/main">
            <a:off x="762000" y="2971800"/>
            <a:ext cx="6038850" cy="3819525"/>
          </a:xfrm>
          <a:prstGeom xmlns:a="http://schemas.openxmlformats.org/drawingml/2006/main" prst="roundRect">
            <a:avLst>
              <a:gd name="adj" fmla="val 249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3B0CA-66A0-49F1-A539-10BC56E3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008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Vista de líneas y estados por módulo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0073C-1BFD-4591-8EFD-6D02628E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009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04360-178D-45C5-8C48-D8386BC6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24750"/>
            <a:ext cx="607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Lectura inmediata: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color e ícono distinguen prueba aprobada, mantención, alerta y módulo sin iniciar.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95DDA-A9FE-4A3A-A367-258A5A6C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105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A87AD-CAA4-44BD-8A10-380C08A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34350"/>
            <a:ext cx="607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Historial por serie: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la búsqueda reúne movimientos, notas y pruebas eléctricas anteriores.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9E8E4-7930-4C68-B904-370E385E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8201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C8C2D-7662-4767-85C9-176F3D2E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43950"/>
            <a:ext cx="607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Garantía automática: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al ingresar una serie, el sistema revisa pruebas eléctricas de los últimos tres meses y conserva la fecha anterior cuando corresponde.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7F070-49A8-4D21-8170-4D200F20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4297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69BA1-8C30-4AE6-A4B1-04CE86CB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53550"/>
            <a:ext cx="607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Acciones controladas: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guardar nota, solicitar material y solicitar prueba dependen del rol del usuario.</a:t>
            </a:r>
          </a:p>
        </p:txBody>
      </p:sp>
    </p:spTree>
    <p:extLst>
      <p:ext uri="{BB962C8B-B14F-4D97-AF65-F5344CB8AC3E}">
        <p14:creationId xmlns:p14="http://schemas.microsoft.com/office/powerpoint/2010/main" val="644577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0B133D-D88E-470F-AD84-4DFE68D0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033A8-954D-42DD-909D-DEE36C6D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PROTOCOLOS Y COSTOS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CCDBA-3306-4171-8D6F-14053E5D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3E083-A240-49E8-BDB3-82AC52A2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D0BED-25E1-42AB-870D-27B6D1AC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2AF9C-6BF6-429E-83C9-2FEA1084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PROTOCOLOS Y COSTOS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319B4-DA25-44CB-BBEE-B1CB35E3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Cada cobro conserva su detalle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29C3A-BE70-4C53-ACDE-D7E6503A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Los protocolos mensuales muestran la serie, fecha, tipo de módulo, valores, orden de trabajo y materiales registrados.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7FF74-6B64-43D4-B649-07DED5C8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626745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45b8d5ae54b9b"/>
          <a:srcRect xmlns:a="http://schemas.openxmlformats.org/drawingml/2006/main" l="12000" t="2000" r="2000" b="3000"/>
          <a:stretch xmlns:a="http://schemas.openxmlformats.org/drawingml/2006/main"/>
        </p:blipFill>
        <p:spPr>
          <a:xfrm xmlns:a="http://schemas.openxmlformats.org/drawingml/2006/main">
            <a:off x="762000" y="2933700"/>
            <a:ext cx="6038850" cy="4248150"/>
          </a:xfrm>
          <a:prstGeom xmlns:a="http://schemas.openxmlformats.org/drawingml/2006/main" prst="roundRect">
            <a:avLst>
              <a:gd name="adj" fmla="val 224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38679-B5AC-485C-BA02-E6D79A4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914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Protocolos mensuales con filtros, serie, valores e ID de orden de trabajo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9E81D-F5E8-494B-A4E7-80258B0F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86700"/>
            <a:ext cx="2905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35D60-B891-4483-A90C-630E36C1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Detalle editable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01E04-78A7-4FD8-99FB-860AD8D0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5817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protocolo conserva mano de obra, materiales, cantidades y precios aplicados.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BB0CA-6CD1-469C-9445-58002045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886700"/>
            <a:ext cx="2905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CD478-E8D5-4B8F-B1F6-C5A11B93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80010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Exportación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F0E5A-E6DD-44D2-BB60-0C5DC11C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825817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El listado de pruebas eléctricas puede filtrarse por fecha y exportarse.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1F81A-659C-4A7E-948B-C463B089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877300"/>
            <a:ext cx="2905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5979C-307E-49EA-ABF9-44451ABB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916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Garantía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4461C2-FE84-44FF-965C-8E2E1690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4877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fecha de una prueba anterior acompaña al módulo cuando reingresa dentro del período definido.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D985A-B065-4A2B-90C8-6D5B58B6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8877300"/>
            <a:ext cx="2905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C3FD7-957F-48DB-AF23-20A897C7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89916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Seguimiento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59F21-5828-4506-A150-00086CC6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924877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Las diferencias entre material retirado y protocolizado quedan disponibles para revisión.</a:t>
            </a:r>
          </a:p>
        </p:txBody>
      </p:sp>
    </p:spTree>
    <p:extLst>
      <p:ext uri="{BB962C8B-B14F-4D97-AF65-F5344CB8AC3E}">
        <p14:creationId xmlns:p14="http://schemas.microsoft.com/office/powerpoint/2010/main" val="1323038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542636-49F7-4650-82EA-E865B703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22711-B766-41AB-8AB0-37C4DB40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2ECCD-7A3F-42A0-8506-C40E0C64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4CF67-4668-4825-93FF-A900A0B6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F301D-4CC5-4276-8C3B-C5A64DBB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A2E83-576F-4CDB-BA34-2B41DA65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35BA2-6982-4D1B-94F5-F9B460C1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Pedidos e inventario en el mismo flujo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8CA94-85C0-46D9-9F23-9E8BEC37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vista de bodega recibe solicitudes, controla entregas y devoluciones, y mantiene el historial de cada vale.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1C6B8-2ADF-4309-8F1A-D240F89E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4333875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db2430a384255"/>
          <a:srcRect xmlns:a="http://schemas.openxmlformats.org/drawingml/2006/main" l="12000" t="2000" r="1000" b="5000"/>
          <a:stretch xmlns:a="http://schemas.openxmlformats.org/drawingml/2006/main"/>
        </p:blipFill>
        <p:spPr>
          <a:xfrm xmlns:a="http://schemas.openxmlformats.org/drawingml/2006/main">
            <a:off x="742950" y="2895600"/>
            <a:ext cx="4143375" cy="32385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7770D-8825-42D3-BA71-37227D1E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00350"/>
            <a:ext cx="1724025" cy="3429000"/>
          </a:xfrm>
          <a:prstGeom xmlns:a="http://schemas.openxmlformats.org/drawingml/2006/main" prst="roundRect">
            <a:avLst>
              <a:gd name="adj" fmla="val 773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f53e4848341cc"/>
          <a:srcRect xmlns:a="http://schemas.openxmlformats.org/drawingml/2006/main" l="1000" t="5000" r="1000" b="39000"/>
          <a:stretch xmlns:a="http://schemas.openxmlformats.org/drawingml/2006/main"/>
        </p:blipFill>
        <p:spPr>
          <a:xfrm xmlns:a="http://schemas.openxmlformats.org/drawingml/2006/main">
            <a:off x="5286375" y="2895600"/>
            <a:ext cx="1533525" cy="3238500"/>
          </a:xfrm>
          <a:prstGeom xmlns:a="http://schemas.openxmlformats.org/drawingml/2006/main" prst="roundRect">
            <a:avLst>
              <a:gd name="adj" fmla="val 621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838FF-8B50-4A40-BAE9-6C1C8727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24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Escritorio y teléfono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C089A-BCEF-4FDF-96A3-4AEF0211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723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C74DD-261D-4E99-8C68-11862C3D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9610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Solicitud asociada: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cada pedido mantiene proyecto, módulo, serie, responsable y materiales.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1904E-A162-4BBA-BC34-0D9001D4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5247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70617-6DAD-47E8-A9E9-E4E2449C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4855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Aprobación identificada: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el vale muestra quién autorizó la entrega y quién recibió.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54EBD-D279-4CC3-B114-3CB5002A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772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3D552-5646-4608-9DC5-5825F772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Inventario operativo: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entradas, salidas y saldo final se consultan desde la misma vista.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1E074-9583-4DDF-946D-37FE1E00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296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60130-7FA4-4E17-981F-DEBF06F8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5345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Herramientas de bodega: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carga de inventario, exportación, historial de vales y códigos de barra.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04743-144D-4347-977E-936679DA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821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86417-954E-4BE9-B07A-D5D61AF9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0590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Notificaciones por rol: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bodega y analistas reciben los avisos que corresponden a sus permisos.</a:t>
            </a:r>
          </a:p>
        </p:txBody>
      </p:sp>
    </p:spTree>
    <p:extLst>
      <p:ext uri="{BB962C8B-B14F-4D97-AF65-F5344CB8AC3E}">
        <p14:creationId xmlns:p14="http://schemas.microsoft.com/office/powerpoint/2010/main" val="7373464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54BC7C-DF08-4897-981D-4B689045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81C8D-B749-4D68-B7AF-426557EF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GESTIÓN Y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471F1-51FC-437F-98F5-5C385B59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57A48-8C86-49D4-936F-6D3D0E68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EBB1E-7432-4DCC-95B0-62693FC4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36124-7C2A-4D10-BF9C-0C27AC18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GESTIÓN Y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D45F0-C350-4FF2-ABAD-0450426F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Los datos permiten revisar diferencias antes del cierre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CD08D-8E60-4C83-82F9-E015EE71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Los balances comparan cantidades retiradas y protocolizadas, y ayudan a enfocar la revisión donde existe una desviación.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CCBC8-F49F-4F8D-A0B1-34B36354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626745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aee1342b6432e"/>
          <a:srcRect xmlns:a="http://schemas.openxmlformats.org/drawingml/2006/main" l="1000" t="0" r="1000" b="0"/>
          <a:stretch xmlns:a="http://schemas.openxmlformats.org/drawingml/2006/main"/>
        </p:blipFill>
        <p:spPr>
          <a:xfrm xmlns:a="http://schemas.openxmlformats.org/drawingml/2006/main">
            <a:off x="762000" y="2933700"/>
            <a:ext cx="6038850" cy="2914650"/>
          </a:xfrm>
          <a:prstGeom xmlns:a="http://schemas.openxmlformats.org/drawingml/2006/main" prst="roundRect">
            <a:avLst>
              <a:gd name="adj" fmla="val 326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15D1C-A676-4D1D-BB9B-B8792A1D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381125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4EFF2-778E-468D-975E-D6F6A42C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RETIRO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796C2-AF4C-402C-8AE4-C54F7B05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3417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Cantidad informada por bodega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0E45F-7554-4D8A-BFD7-2DEB8EA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6286500"/>
            <a:ext cx="1381125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65559-79E0-4FF8-AD48-4E23A205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COBRO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0FBE6-5DDB-4734-BE31-411B4D12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3417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Cantidad registrada en protocolos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4AC474-1E55-4288-8D99-AFF56A73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286500"/>
            <a:ext cx="1381125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6D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6BB00-03AA-4E05-9C0E-C5B1522D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869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86900"/>
                </a:solidFill>
                <a:latin typeface="Arial"/>
                <a:ea typeface="Arial"/>
                <a:cs typeface="Arial"/>
              </a:rPr>
              <a:t>DIFERENCIA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B995A9-6E32-419A-B2A0-74A3DD3D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73417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Unidades que requieren revisión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0B069-7186-442A-8F5A-04E015BB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6286500"/>
            <a:ext cx="1381125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1105F-F65A-49B7-BDC1-CF5292C9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EF138-391C-462D-91FC-020CBF24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73417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Valor asociado a la desviación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499D0-84E3-46C9-AE15-ADE49438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Siguiente etapa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3EB2F9-495D-48AF-8455-C230D541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248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09B32F-8579-4F27-9F1B-35CB3C8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48650"/>
            <a:ext cx="6076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Publicación: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alojar la aplicación en un dominio propio con certificados y respaldos definidos.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399845-D90B-40F1-9EA4-FB2A16A1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249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4942DA-7725-4710-BC77-F4B3CFD0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48725"/>
            <a:ext cx="6076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Integración: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evaluar intercambio de datos con Unisoft mediante archivos, API o una capa intermedia.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0241E2-324C-4114-8D16-49E4BBAE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79CDA9-F1F8-4589-831E-0E84D818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6076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Gobierno de datos: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formalizar responsables, revisiones periódicas y criterios para corregir diferencias.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54D5E4-69EB-436A-8F0E-3D7CE825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La calidad del balance depende de que cada retiro y cada protocolo se registren con la serie y cantidad correctas.</a:t>
            </a:r>
          </a:p>
        </p:txBody>
      </p:sp>
    </p:spTree>
    <p:extLst>
      <p:ext uri="{BB962C8B-B14F-4D97-AF65-F5344CB8AC3E}">
        <p14:creationId xmlns:p14="http://schemas.microsoft.com/office/powerpoint/2010/main" val="2032994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2026-09-29T18:07:54.3970000Z</dcterms:created>
  <dcterms:modified xsi:type="dcterms:W3CDTF">2026-09-29T18:07:54.3970000Z</dcterms:modified>
</coreProperties>
</file>