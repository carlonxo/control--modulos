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9dff9b850745b8" /><Relationship Type="http://schemas.openxmlformats.org/officeDocument/2006/relationships/extended-properties" Target="/docProps/app.xml" Id="Re0560c5bce4041d4" /><Relationship Type="http://schemas.openxmlformats.org/officeDocument/2006/relationships/officeDocument" Target="/ppt/presentation.xml" Id="R3eb0ca16f98d43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86ed928b324095"/>
  </p:sldMasterIdLst>
  <p:notesMasterIdLst>
    <p:notesMasterId xmlns:r="http://schemas.openxmlformats.org/officeDocument/2006/relationships" r:id="Rd11763a419514f0d"/>
  </p:notesMasterIdLst>
  <p:sldIdLst>
    <p:sldId xmlns:r="http://schemas.openxmlformats.org/officeDocument/2006/relationships" id="256" r:id="R9d7501d61e754b8f"/>
    <p:sldId xmlns:r="http://schemas.openxmlformats.org/officeDocument/2006/relationships" id="257" r:id="R5cbece6426ca401e"/>
    <p:sldId xmlns:r="http://schemas.openxmlformats.org/officeDocument/2006/relationships" id="258" r:id="R917d973b18294c62"/>
    <p:sldId xmlns:r="http://schemas.openxmlformats.org/officeDocument/2006/relationships" id="259" r:id="R9100cb99d9dd49e7"/>
    <p:sldId xmlns:r="http://schemas.openxmlformats.org/officeDocument/2006/relationships" id="260" r:id="R0e5ff5b48aba469c"/>
    <p:sldId xmlns:r="http://schemas.openxmlformats.org/officeDocument/2006/relationships" id="261" r:id="Re0e1a48c302b49fc"/>
    <p:sldId xmlns:r="http://schemas.openxmlformats.org/officeDocument/2006/relationships" id="262" r:id="R142add74ca57460d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794c65a752463a" /><Relationship Type="http://schemas.openxmlformats.org/officeDocument/2006/relationships/slideMaster" Target="/ppt/slideMasters/slideMaster1.xml" Id="Rf086ed928b324095" /><Relationship Type="http://schemas.openxmlformats.org/officeDocument/2006/relationships/notesMaster" Target="/ppt/notesMasters/notesMaster1.xml" Id="Rd11763a419514f0d" /><Relationship Type="http://schemas.openxmlformats.org/officeDocument/2006/relationships/presProps" Target="/ppt/presProps.xml" Id="R56eb7448e53c469a" /><Relationship Type="http://schemas.openxmlformats.org/officeDocument/2006/relationships/tableStyles" Target="/ppt/tableStyles.xml" Id="R45862e138dec43c2" /><Relationship Type="http://schemas.openxmlformats.org/officeDocument/2006/relationships/slide" Target="/ppt/slides/slide1.xml" Id="R9d7501d61e754b8f" /><Relationship Type="http://schemas.openxmlformats.org/officeDocument/2006/relationships/slide" Target="/ppt/slides/slide2.xml" Id="R5cbece6426ca401e" /><Relationship Type="http://schemas.openxmlformats.org/officeDocument/2006/relationships/slide" Target="/ppt/slides/slide3.xml" Id="R917d973b18294c62" /><Relationship Type="http://schemas.openxmlformats.org/officeDocument/2006/relationships/slide" Target="/ppt/slides/slide4.xml" Id="R9100cb99d9dd49e7" /><Relationship Type="http://schemas.openxmlformats.org/officeDocument/2006/relationships/slide" Target="/ppt/slides/slide5.xml" Id="R0e5ff5b48aba469c" /><Relationship Type="http://schemas.openxmlformats.org/officeDocument/2006/relationships/slide" Target="/ppt/slides/slide6.xml" Id="Re0e1a48c302b49fc" /><Relationship Type="http://schemas.openxmlformats.org/officeDocument/2006/relationships/slide" Target="/ppt/slides/slide7.xml" Id="R142add74ca5746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1a32940a5d41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1e759d5e934e6a" /><Relationship Type="http://schemas.openxmlformats.org/officeDocument/2006/relationships/notesMaster" Target="/ppt/notesMasters/notesMaster1.xml" Id="R734654bb97b149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7b3d693e584c3b" /><Relationship Type="http://schemas.openxmlformats.org/officeDocument/2006/relationships/notesMaster" Target="/ppt/notesMasters/notesMaster1.xml" Id="Rd4a5cf22c19e47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99ab54b3714786" /><Relationship Type="http://schemas.openxmlformats.org/officeDocument/2006/relationships/notesMaster" Target="/ppt/notesMasters/notesMaster1.xml" Id="R805f38ab597b49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d539e98e11434a" /><Relationship Type="http://schemas.openxmlformats.org/officeDocument/2006/relationships/notesMaster" Target="/ppt/notesMasters/notesMaster1.xml" Id="R08e06fcaab1c4d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1632824cbc4930" /><Relationship Type="http://schemas.openxmlformats.org/officeDocument/2006/relationships/notesMaster" Target="/ppt/notesMasters/notesMaster1.xml" Id="Re34008613a1142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192ab306974698" /><Relationship Type="http://schemas.openxmlformats.org/officeDocument/2006/relationships/notesMaster" Target="/ppt/notesMasters/notesMaster1.xml" Id="R1d1ab3891ac648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4da64b4e72478e" /><Relationship Type="http://schemas.openxmlformats.org/officeDocument/2006/relationships/notesMaster" Target="/ppt/notesMasters/notesMaster1.xml" Id="R0e65d95e1da049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Diseño inspirado en el documento de referencia entregado por el usuario. Captura de la aplicación Control Modular.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f72ef66f194f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d2cab2e1b74edf" /><Relationship Type="http://schemas.openxmlformats.org/officeDocument/2006/relationships/slideLayout" Target="/ppt/slideLayouts/slideLayout1.xml" Id="R4473267e0f9e44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73267e0f9e44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425186bf446fc" /><Relationship Type="http://schemas.openxmlformats.org/officeDocument/2006/relationships/image" Target="/ppt/media/image.png" Id="R0b7d0cb71f574251" /><Relationship Type="http://schemas.openxmlformats.org/officeDocument/2006/relationships/notesSlide" Target="/ppt/notesSlides/notesSlide1.xml" Id="R5f565adedac843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26fd8ebb6475e" /><Relationship Type="http://schemas.openxmlformats.org/officeDocument/2006/relationships/notesSlide" Target="/ppt/notesSlides/notesSlide2.xml" Id="R45742faae97c42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9f3f54a0f42e5" /><Relationship Type="http://schemas.openxmlformats.org/officeDocument/2006/relationships/notesSlide" Target="/ppt/notesSlides/notesSlide3.xml" Id="Rad39b734cd4648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9e0a627394aa6" /><Relationship Type="http://schemas.openxmlformats.org/officeDocument/2006/relationships/image" Target="/ppt/media/image2.png" Id="R093b740880c14fb8" /><Relationship Type="http://schemas.openxmlformats.org/officeDocument/2006/relationships/notesSlide" Target="/ppt/notesSlides/notesSlide4.xml" Id="Rc69d72dc2ad849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bc03be6d545cd" /><Relationship Type="http://schemas.openxmlformats.org/officeDocument/2006/relationships/image" Target="/ppt/media/image3.png" Id="Rce36b3abbb834928" /><Relationship Type="http://schemas.openxmlformats.org/officeDocument/2006/relationships/notesSlide" Target="/ppt/notesSlides/notesSlide5.xml" Id="R98be57dcf2ac47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5d3c5232c440c" /><Relationship Type="http://schemas.openxmlformats.org/officeDocument/2006/relationships/image" Target="/ppt/media/image4.png" Id="R053293f43cf24168" /><Relationship Type="http://schemas.openxmlformats.org/officeDocument/2006/relationships/image" Target="/ppt/media/image.jpeg" Id="R1fbdff3925ad481f" /><Relationship Type="http://schemas.openxmlformats.org/officeDocument/2006/relationships/notesSlide" Target="/ppt/notesSlides/notesSlide6.xml" Id="R7c4a0edb58054e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f6b4907d242a8" /><Relationship Type="http://schemas.openxmlformats.org/officeDocument/2006/relationships/image" Target="/ppt/media/image5.png" Id="R8f076c74c2f641c8" /><Relationship Type="http://schemas.openxmlformats.org/officeDocument/2006/relationships/notesSlide" Target="/ppt/notesSlides/notesSlide7.xml" Id="R91e3d7cfdc6c4f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CC1BDC-3882-4BF0-A47D-4F15BE74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733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86567-140E-4758-8ADC-04B024EA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62000"/>
            <a:ext cx="6858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1D6D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31F01-ADD4-4B4F-AC0B-660A8184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620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CM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F0ADA-6978-4423-B51E-F0216168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PRESENTACIÓN A GERENCIA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693FF-5348-4653-81F7-D4F13579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619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4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4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Modular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84671-66A3-4F64-9F93-3B491B9F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C9D8D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C9D8DF"/>
                </a:solidFill>
                <a:latin typeface="Arial"/>
                <a:ea typeface="Arial"/>
                <a:cs typeface="Arial"/>
              </a:rPr>
              <a:t>Gestión integral de módulos, protocolos, mantención y bodega en una sola aplicación.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284661-BC67-44B1-ACCF-84500A17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34000"/>
            <a:ext cx="5334000" cy="32004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7d0cb71f574251"/>
          <a:srcRect xmlns:a="http://schemas.openxmlformats.org/drawingml/2006/main" l="12000" t="0" r="0" b="9000"/>
          <a:stretch xmlns:a="http://schemas.openxmlformats.org/drawingml/2006/main"/>
        </p:blipFill>
        <p:spPr>
          <a:xfrm xmlns:a="http://schemas.openxmlformats.org/drawingml/2006/main">
            <a:off x="1676400" y="5429250"/>
            <a:ext cx="5143500" cy="3009900"/>
          </a:xfrm>
          <a:prstGeom xmlns:a="http://schemas.openxmlformats.org/drawingml/2006/main" prst="roundRect">
            <a:avLst>
              <a:gd name="adj" fmla="val 316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8A342-32E8-4692-B245-A7E26C87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916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APLICACIÓN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FA2B8-91DA-4852-BCE6-EBD8E5B8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2583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Control Modular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4E953D-9AA6-4A84-8D64-978A0C0F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9916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PLANTA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E22D4-2C01-4299-A8CC-E534FCEE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92583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Planta Bayona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AEB93-FCBC-4502-9CAB-B8C436CD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9916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FECHA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660871-4C41-4C45-81A7-DED82DA3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92583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Septiembre 2026</a:t>
            </a:r>
          </a:p>
        </p:txBody>
      </p:sp>
    </p:spTree>
    <p:extLst>
      <p:ext uri="{BB962C8B-B14F-4D97-AF65-F5344CB8AC3E}">
        <p14:creationId xmlns:p14="http://schemas.microsoft.com/office/powerpoint/2010/main" val="9366054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0C821AB-0FB0-40A5-A848-2C1E76DC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CONTROL MODULAR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49ABD-4D46-461B-AA21-6F368E75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RESUMEN EJECUTIVO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86B67-908F-427E-B7D2-2211337D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01275"/>
            <a:ext cx="626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85F8E-B71D-4225-A841-DA8C40EB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965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Planta Bayona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82218-A544-4D82-AB3C-3D0E5482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965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5BBA2-C0FC-4DFA-B75A-7DB9154E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626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RESUMEN EJECUTIVO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DA621-6FDC-40AA-8FEC-849E2BE3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6267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92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Una sola trazabilidad desde la línea hasta bodega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6BA2F1-AEEE-4E2F-93C4-E08B8CED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6267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La aplicación conecta el estado físico de cada módulo con sus materiales, pruebas eléctricas, protocolos y costos asociados.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A66C0-BE9D-412F-A56C-DF6E1392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295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8EEE8"/>
          </a:solidFill>
          <a:ln xmlns:a="http://schemas.openxmlformats.org/drawingml/2006/main" w="9525">
            <a:solidFill>
              <a:srgbClr val="E7D4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31BB2-A53A-416D-8986-8FEC9FD1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47625" cy="2476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6753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EC5BD5-FBA3-4FAA-9E2B-BC0CE36D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Antes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3AE042-B35D-4377-8BF9-F2DF5B61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B51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6AB138-400E-49CA-A01A-430F1D4D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2362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Estado de módulos disperso entre personas y registros.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F206A-1F6B-4351-ABE4-03B83028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24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B51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61587-978B-41F6-B6E8-7F2F0741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86225"/>
            <a:ext cx="2362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Solicitudes de material sin una trazabilidad uniforme.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459119-6834-4447-B992-D5657111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B51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4039CF-D1B4-4C23-B530-4B387CB6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2362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Protocolos y costos revisados en etapas separadas.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4DD76B-A4CC-480E-BBD7-3E978857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577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B51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2F6F86-BD5E-4C46-A092-CD0A2A1F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81575"/>
            <a:ext cx="2362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Dificultad para detectar diferencias entre retiro y cobro.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DBD118-D4FA-4F53-8C9C-D3EC4A58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00375"/>
            <a:ext cx="295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C5E9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F133B9-437D-4586-9830-7AF6BF89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00375"/>
            <a:ext cx="47625" cy="2476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98B5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ABE573-50A6-41A5-86AE-5FF984A4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90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Con Control Modular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C51DA7-AFC1-46AF-B40B-F977A4CC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147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9D87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875FA0-09D8-429D-932D-1498D258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38550"/>
            <a:ext cx="2362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Estado por serie y línea visible en tiempo real.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BC1BCA-6F5B-468A-8CD2-4352FAEC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624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9D87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CE0A63-CB02-49EE-B434-D74E7522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86225"/>
            <a:ext cx="2362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Pedidos de bodega ligados al módulo y al responsable.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EA955D-196F-477A-9142-583F356D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101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9D87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2D6947-3C05-4F0A-82F8-D7133845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33900"/>
            <a:ext cx="2362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Protocolos con detalle de materiales y valores.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FB478F-58CE-485A-9665-CE5FFC1C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577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9D87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1E4ED2-1878-4C59-9F5D-569C5353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81575"/>
            <a:ext cx="2362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Balances que comparan cantidades retiradas y cobradas.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4E3A4C-BC6D-493A-895A-C9CCCD9B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57875"/>
            <a:ext cx="18669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0BD8D1-A087-4439-8CBC-89B8AC73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721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CDF2F1-96DD-46C1-8F9D-D3BFC7BE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674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Trazabilidad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F929F9-9057-4AC6-9F87-3445EC5C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Cada serie conserva su historia y responsables.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5A2033-6CB6-42F2-B66C-1A5887F2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857875"/>
            <a:ext cx="18669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E3E529-570E-42D0-9F9C-EE6028B4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9721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1BE952-9B49-48D6-A8BC-F0035B93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2674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Control operativo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FCE4ED-5FA3-4B6F-AD53-55B50F01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54367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Las líneas muestran estados y trabajos pendientes.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B45776-5223-4490-A1B3-9526EF15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857875"/>
            <a:ext cx="18669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C5DC1A-3501-4648-B6E8-F8470338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721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A7B153-321E-4D2B-A26A-3EDA81C1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2674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Bodega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8B8659-1741-43A4-83E9-7C3C54F3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54367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Pedidos, devoluciones e inventario quedan vinculados.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9DA19B-CEFB-4301-88DC-DADA06BB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0"/>
            <a:ext cx="18669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F8D2DA-EBB9-4746-92CD-6CC554BA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353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0A4D9F8-3509-4755-AD53-FF0867C4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4857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Control de costos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491D7F2-50D7-4B63-8386-0CAE78AC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248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Protocolos y balances permiten revisar diferencias.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BDBAA1A-4A88-4E91-A3F5-5CDC8AEA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7239000"/>
            <a:ext cx="18669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1CDC9A0-E082-45E8-90CB-D1866A25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7353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99B735-4BAB-4BA2-BEC8-31E5347A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764857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Acceso por rol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377AB68-ECA1-4145-82C7-EEF0DA5E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79248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Cada usuario ve las acciones que le corresponden.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EC12D6-CE28-4097-A2FA-D779AD82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7239000"/>
            <a:ext cx="18669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64E94F-EFEC-4672-8913-6B3067C6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353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FC404D0-6AA0-47C9-B946-8E3A9895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64857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Uso en terreno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9B1665C-70EA-4084-BF4D-F5845728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9248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La interfaz funciona en computador y teléfono.</a:t>
            </a:r>
          </a:p>
        </p:txBody>
      </p:sp>
    </p:spTree>
    <p:extLst>
      <p:ext uri="{BB962C8B-B14F-4D97-AF65-F5344CB8AC3E}">
        <p14:creationId xmlns:p14="http://schemas.microsoft.com/office/powerpoint/2010/main" val="17718721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4E52EF4-3BED-4F49-B9B5-A0AEF7E7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CONTROL MODULAR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10002-3813-4194-98BB-84884104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CÓMO FUNCIONA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8E719-177C-4DF4-962D-797CB5EB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01275"/>
            <a:ext cx="626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96E95-139B-4E04-BE70-2F263297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965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Planta Bayona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10359-73B2-43AE-A286-BF0DED4B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965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63D4F-F9EE-49B3-823C-3F8595D3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626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CÓMO FUNCIONA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721C56-9541-4FD7-A52B-D2A02FDE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6267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Un flujo operativo conectado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6B292-2EB0-43D8-9DA1-83998751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6267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Cada acción queda asociada a una serie, una línea, una persona y una fecha.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792C2-2AB1-4A34-BDC5-ED61330D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1143000" cy="1952625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7F14C-4C13-4433-B2DF-3BD9F897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BDD408-E860-43EF-897D-99819415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D43AE3-35DE-43FC-AAA2-553DCAEF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48050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Ingreso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E1B5B0-B8D2-435A-850B-446A6466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48100"/>
            <a:ext cx="933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 registra la serie y se asigna a una línea.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3FBC2-B52B-4007-83A7-D6D8DCCB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24250"/>
            <a:ext cx="114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55A3DC-A6EF-425F-98D3-F80C01E5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57500"/>
            <a:ext cx="1143000" cy="1952625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9FA581-97A1-4F36-BB39-0C8B2F75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0099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143E32-8B9D-4738-B2AA-FC21FC71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0099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481A25-E943-4782-8FD8-43E55206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448050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Mantención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5B6675-2323-40E7-8EF5-E2BE15E2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48100"/>
            <a:ext cx="933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El equipo registra notas y solicita materiales.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F6EC19-B63E-4D61-BE66-6BDEC1A9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24250"/>
            <a:ext cx="114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E20DCD-7C55-4AAE-94E3-574CB4B9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57500"/>
            <a:ext cx="1143000" cy="1952625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1B7AD5-78AD-4CB5-BBC2-30A64727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099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73D311-26D7-471E-ACD1-E496687B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099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66FF4C-943B-4CC7-A4A7-832ABBB0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448050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Bodega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B38555-FE28-4704-BC07-EA553B7B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848100"/>
            <a:ext cx="933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El pedido se aprueba, prepara y entrega.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CB2565-5AD1-444F-AD0B-120475AC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24250"/>
            <a:ext cx="114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E84DF6-D3BD-4CFB-897A-883D16BE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57500"/>
            <a:ext cx="1143000" cy="1952625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A09EB5-5AE2-46E8-AEA0-005355C6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99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DEE6C0-54D4-4035-93F7-2D4B439F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99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080858-5558-41FB-A60E-A18420FE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48050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Prueba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1CE3B3-0660-41E4-A1D2-944C7FA9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48100"/>
            <a:ext cx="933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La prueba eléctrica actualiza el estado del módulo.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39DE5B-9227-456F-A996-75F4189E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24250"/>
            <a:ext cx="114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25F5B8-C901-4495-AF83-47AD123C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57500"/>
            <a:ext cx="1143000" cy="1952625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2E04EB-5493-46E0-8FCA-14E1B45D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99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83503D-1FEF-460A-AE34-66DF2A54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99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36F6C4-D777-42D9-B970-A94F678F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448050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Protocolo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D2F138-80C4-4C0E-8BE0-7CF8535F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848100"/>
            <a:ext cx="933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Materiales, valores e historial quedan disponibles.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E6DF7C-89C4-416B-A43A-174965DC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Roles del sistema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95D7BF-CD18-4BAC-8403-87B6C72E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6267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33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BDF5C4-D96E-4D28-8502-DFF8CBEA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28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B708EE-E401-43B0-88D0-864E93FA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5245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RESPONSABILIDAD PRINCIPAL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253792-5987-4026-A5F6-AE938ECB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6267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FD4326-F2CE-4921-832E-74679BFA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1285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Administrador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CB8033-9032-42BE-AFA6-D1F1F3A2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604837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Configura usuarios, permisos, catálogos y revisa toda la operación.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D63ECB-9B6F-4DB9-B8F0-458A4821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10350"/>
            <a:ext cx="6267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595419-8DDF-4E88-9D40-99C2D9F1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0350"/>
            <a:ext cx="1285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Operador / eléctrico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99EFB0-69E7-49B7-A3E7-6436990D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669607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Actualiza módulos, solicita materiales y registra pruebas o protocolos según permiso.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BAF722-9F7C-45D6-85FD-28463D02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58050"/>
            <a:ext cx="6267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56DC9B-4CFE-4CEB-B217-74DE4FED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58050"/>
            <a:ext cx="1285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Bodega / analista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4C381B-9AFB-4EF7-9CAA-70F835D2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734377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Recibe avisos, gestiona pedidos, inventario, vales y devoluciones.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6208C4F-28B2-4762-A3B5-0634A326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0"/>
            <a:ext cx="6267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83CB4D-72FC-4FCA-8C68-FCF6509D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Jefatura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DDC9604-DFBE-465A-9319-8074B6FA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799147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Consulta indicadores, balances, auditoría e historial por serie.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5D79D03-4179-4DC9-BA8A-C5D5FD86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858250"/>
            <a:ext cx="62674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2FD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297CFE6-7A83-420D-8FBB-7142DB8B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010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Datos conectados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147E22C-3DDF-4E84-BCE1-33192C1E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34500"/>
            <a:ext cx="592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Supabase centraliza la información y los permisos. La aplicación permite exportar listados e inventario cuando el equipo necesita trabajar en Excel.</a:t>
            </a:r>
          </a:p>
        </p:txBody>
      </p:sp>
    </p:spTree>
    <p:extLst>
      <p:ext uri="{BB962C8B-B14F-4D97-AF65-F5344CB8AC3E}">
        <p14:creationId xmlns:p14="http://schemas.microsoft.com/office/powerpoint/2010/main" val="10319602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F6AAF0-9AC1-47DD-9DA5-37EE9B93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CONTROL MODULAR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C8A70-A982-47C3-8FE9-A49A1247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CONTROL DE MÓDULOS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FFCC9-185F-443A-9112-236D8156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01275"/>
            <a:ext cx="626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5E3AA-FA6D-434E-B7F3-6C8B5687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965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Planta Bayona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46DCD-E6A2-4880-8EE7-57C099EA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965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4EC48-A881-4C93-A7C3-158CD940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626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CONTROL DE MÓDULOS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3844D-38D4-4B6E-996F-A5D40C86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6267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El estado de cada serie queda visible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BF8E7-7E03-45D0-8B31-67DA8856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6267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Las tarjetas permiten reconocer rápidamente qué módulos están disponibles, pendientes, en mantención o con una alerta.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3F81B0-9A8E-47CB-A0EF-92F9226D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6267450" cy="4048125"/>
          </a:xfrm>
          <a:prstGeom xmlns:a="http://schemas.openxmlformats.org/drawingml/2006/main" prst="roundRect">
            <a:avLst>
              <a:gd name="adj" fmla="val 3294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3b740880c14fb8"/>
          <a:srcRect xmlns:a="http://schemas.openxmlformats.org/drawingml/2006/main" l="1000" t="4000" r="1000" b="5000"/>
          <a:stretch xmlns:a="http://schemas.openxmlformats.org/drawingml/2006/main"/>
        </p:blipFill>
        <p:spPr>
          <a:xfrm xmlns:a="http://schemas.openxmlformats.org/drawingml/2006/main">
            <a:off x="762000" y="2971800"/>
            <a:ext cx="6038850" cy="3819525"/>
          </a:xfrm>
          <a:prstGeom xmlns:a="http://schemas.openxmlformats.org/drawingml/2006/main" prst="roundRect">
            <a:avLst>
              <a:gd name="adj" fmla="val 249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42229F-EF94-418D-84E3-06A7E54A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008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1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8492A0"/>
                </a:solidFill>
                <a:latin typeface="Arial"/>
                <a:ea typeface="Arial"/>
                <a:cs typeface="Arial"/>
              </a:rPr>
              <a:t>Vista de líneas y estados por módulo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2C4C1-C607-4C33-A833-200943A9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6009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1D6D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A4CB28-7DF8-49F7-9954-A6420E30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524750"/>
            <a:ext cx="6076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Lectura inmediata: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color e ícono distinguen prueba aprobada, mantención, alerta y módulo sin iniciar.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3EB2CF-8201-418B-B3CE-DD8F1EAF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105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1D6D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D4A106-6948-4E44-B805-88CAEBC2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34350"/>
            <a:ext cx="6076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Historial por serie: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la búsqueda reúne movimientos, notas y pruebas eléctricas anteriores.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A273DE-2922-446C-B023-08F68742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8201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1D6D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2C5BA6-664F-48E4-B6F0-14E52EF4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43950"/>
            <a:ext cx="6076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Garantía automática: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al ingresar una serie, el sistema revisa pruebas eléctricas de los últimos tres meses y conserva la fecha anterior cuando corresponde.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2510A1-05D8-46B2-8B90-0F4AFA55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4297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1D6D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E61040-FF9C-44F7-8FDD-D54684D5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53550"/>
            <a:ext cx="6076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Acciones controladas: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guardar nota, solicitar material y solicitar prueba dependen del rol del usuario.</a:t>
            </a:r>
          </a:p>
        </p:txBody>
      </p:sp>
    </p:spTree>
    <p:extLst>
      <p:ext uri="{BB962C8B-B14F-4D97-AF65-F5344CB8AC3E}">
        <p14:creationId xmlns:p14="http://schemas.microsoft.com/office/powerpoint/2010/main" val="5226965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7D9500-FCB3-448A-84FC-4BA31557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CONTROL MODULAR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9DE15-1FCB-4838-AF9E-D29F3D95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PROTOCOLOS Y COSTOS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63854-551B-4417-B7C5-6FB75DA9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01275"/>
            <a:ext cx="626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60365-ACAB-4F04-98D3-56B5F5E8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965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Planta Bayona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D1416B-4116-4A42-99EF-801FE882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965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AA323-EDAC-4010-9437-8D3A7594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626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PROTOCOLOS Y COSTOS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925E4-3E3D-457E-AFF1-2C4A681E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6267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Cada cobro conserva su detalle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C2D39-D114-459B-A265-5D682AA8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6267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Los protocolos mensuales muestran la serie, fecha, tipo de módulo, valores, orden de trabajo y materiales registrados.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032C8-2889-413E-A3B0-98B005B1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6267450" cy="4476750"/>
          </a:xfrm>
          <a:prstGeom xmlns:a="http://schemas.openxmlformats.org/drawingml/2006/main" prst="roundRect">
            <a:avLst>
              <a:gd name="adj" fmla="val 2979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36b3abbb834928"/>
          <a:srcRect xmlns:a="http://schemas.openxmlformats.org/drawingml/2006/main" l="12000" t="2000" r="2000" b="3000"/>
          <a:stretch xmlns:a="http://schemas.openxmlformats.org/drawingml/2006/main"/>
        </p:blipFill>
        <p:spPr>
          <a:xfrm xmlns:a="http://schemas.openxmlformats.org/drawingml/2006/main">
            <a:off x="762000" y="2933700"/>
            <a:ext cx="6038850" cy="4248150"/>
          </a:xfrm>
          <a:prstGeom xmlns:a="http://schemas.openxmlformats.org/drawingml/2006/main" prst="roundRect">
            <a:avLst>
              <a:gd name="adj" fmla="val 2242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CF0252-5667-416F-8D8F-C24C26D2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914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1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8492A0"/>
                </a:solidFill>
                <a:latin typeface="Arial"/>
                <a:ea typeface="Arial"/>
                <a:cs typeface="Arial"/>
              </a:rPr>
              <a:t>Protocolos mensuales con filtros, serie, valores e ID de orden de trabajo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0D9623-1F87-4C8E-9047-FD73A038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86700"/>
            <a:ext cx="2905125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15763B-EB13-482F-99BB-EAEEAE1A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01000"/>
            <a:ext cx="2619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Detalle editable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719625-FE3E-4873-B4EC-720AD78B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258175"/>
            <a:ext cx="2619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Cada protocolo conserva mano de obra, materiales, cantidades y precios aplicados.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CBB028-EA90-4B94-9031-C425E2ED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7886700"/>
            <a:ext cx="2905125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164A6-D9D3-4B06-A777-E8CA913F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8001000"/>
            <a:ext cx="2619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Exportación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B0F094-2C69-434B-8258-0A0C51C3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8258175"/>
            <a:ext cx="2619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El listado de pruebas eléctricas puede filtrarse por fecha y exportarse.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C93D4F-5EAC-42F4-8119-A23C9291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877300"/>
            <a:ext cx="2905125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1A16BA-74B8-40B0-A854-58968311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991600"/>
            <a:ext cx="2619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Garantía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FADB1E-2C84-47E7-B478-94EF2766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248775"/>
            <a:ext cx="2619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La fecha de una prueba anterior acompaña al módulo cuando reingresa dentro del período definido.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F7BA73-6CA0-4FCC-9918-A42CEB27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8877300"/>
            <a:ext cx="2905125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0662BA-AA84-44AA-B894-5A65A627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8991600"/>
            <a:ext cx="2619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Seguimiento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8C9137-4396-4416-A585-7633C88E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9248775"/>
            <a:ext cx="2619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Las diferencias entre material retirado y protocolizado quedan disponibles para revisión.</a:t>
            </a:r>
          </a:p>
        </p:txBody>
      </p:sp>
    </p:spTree>
    <p:extLst>
      <p:ext uri="{BB962C8B-B14F-4D97-AF65-F5344CB8AC3E}">
        <p14:creationId xmlns:p14="http://schemas.microsoft.com/office/powerpoint/2010/main" val="17044939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7B60C5-04A0-4916-B0BC-AA857107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CONTROL MODULAR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172622-826F-4038-A236-883E4481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BODEGA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0AC93-AA23-47CA-9F59-069084B6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01275"/>
            <a:ext cx="626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99A29-D89F-40F1-9B5F-84817378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965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Planta Bayona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8D3B4-2699-4DA9-BA3F-3AFA7D0C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965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5ABBC-A8DD-4616-B1E8-7DF32CE4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626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BODEGA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9CCDE-3E42-46CF-B057-D3F95309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6267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Pedidos e inventario en el mismo flujo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089E2-E2D5-46BE-A460-D154899E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6267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La vista de bodega recibe solicitudes, controla entregas y devoluciones, y mantiene el historial de cada vale.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38334B-423E-4820-9CE5-12537F91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4333875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3293f43cf24168"/>
          <a:srcRect xmlns:a="http://schemas.openxmlformats.org/drawingml/2006/main" l="12000" t="2000" r="1000" b="5000"/>
          <a:stretch xmlns:a="http://schemas.openxmlformats.org/drawingml/2006/main"/>
        </p:blipFill>
        <p:spPr>
          <a:xfrm xmlns:a="http://schemas.openxmlformats.org/drawingml/2006/main">
            <a:off x="742950" y="2895600"/>
            <a:ext cx="4143375" cy="3238500"/>
          </a:xfrm>
          <a:prstGeom xmlns:a="http://schemas.openxmlformats.org/drawingml/2006/main" prst="roundRect">
            <a:avLst>
              <a:gd name="adj" fmla="val 2941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98D8D5-C82A-4623-8444-6409CBCD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00350"/>
            <a:ext cx="1724025" cy="3429000"/>
          </a:xfrm>
          <a:prstGeom xmlns:a="http://schemas.openxmlformats.org/drawingml/2006/main" prst="roundRect">
            <a:avLst>
              <a:gd name="adj" fmla="val 7735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bdff3925ad481f"/>
          <a:srcRect xmlns:a="http://schemas.openxmlformats.org/drawingml/2006/main" l="1000" t="5000" r="1000" b="39000"/>
          <a:stretch xmlns:a="http://schemas.openxmlformats.org/drawingml/2006/main"/>
        </p:blipFill>
        <p:spPr>
          <a:xfrm xmlns:a="http://schemas.openxmlformats.org/drawingml/2006/main">
            <a:off x="5286375" y="2895600"/>
            <a:ext cx="1533525" cy="3238500"/>
          </a:xfrm>
          <a:prstGeom xmlns:a="http://schemas.openxmlformats.org/drawingml/2006/main" prst="roundRect">
            <a:avLst>
              <a:gd name="adj" fmla="val 6211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3305C-9C55-4DD1-97F4-3D12D152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24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1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8492A0"/>
                </a:solidFill>
                <a:latin typeface="Arial"/>
                <a:ea typeface="Arial"/>
                <a:cs typeface="Arial"/>
              </a:rPr>
              <a:t>Escritorio y teléfono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DCC5A2-B2C6-4E45-8D96-2971BA39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9723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476D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2EB3A-5C37-40B7-89EA-94094C00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96100"/>
            <a:ext cx="6076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Solicitud asociada: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cada pedido mantiene proyecto, módulo, serie, responsable y materiales.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700CA-51C8-4E7C-BCE6-12E9926D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5247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476D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C4BCC6-7090-487D-978B-1002E994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48550"/>
            <a:ext cx="6076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Aprobación identificada: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el vale muestra quién autorizó la entrega y quién recibió.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B21DDF-8D61-4DEB-9538-AD0135DF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772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476D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AFE0E4-80C8-45FA-B66A-1BD116F1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0"/>
            <a:ext cx="6076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Inventario operativo: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entradas, salidas y saldo final se consultan desde la misma vista.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E649E8-A5A7-4FD9-9DF9-21058BCE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296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476D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0785EF-4B8B-493A-BD63-D557B2D9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53450"/>
            <a:ext cx="6076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Herramientas de bodega: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carga de inventario, exportación, historial de vales y códigos de barra.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079546-FB14-43FB-B3E3-291D745D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821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476D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32160A-16CF-4EB9-9C8F-1F6E880A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105900"/>
            <a:ext cx="6076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Notificaciones por rol: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bodega y analistas reciben los avisos que corresponden a sus permisos.</a:t>
            </a:r>
          </a:p>
        </p:txBody>
      </p:sp>
    </p:spTree>
    <p:extLst>
      <p:ext uri="{BB962C8B-B14F-4D97-AF65-F5344CB8AC3E}">
        <p14:creationId xmlns:p14="http://schemas.microsoft.com/office/powerpoint/2010/main" val="17819097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8B91B3-D42D-4EF3-AB5E-0A663FED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CONTROL MODULAR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E1765-0DD4-49AA-B0E5-FA4FFDCA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GESTIÓN Y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F2B06-8BAC-4D7D-9AE3-060809E2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01275"/>
            <a:ext cx="626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25782-BC3F-4D44-91DF-6E9C3491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965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Planta Bayona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71B9B-9232-47FF-A064-1CFA49B7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965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D1D07-4E16-4D6E-8E7C-DB19E8A5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626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GESTIÓN Y 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A8D52-5689-418F-A32C-69D4CCB1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6267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92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Los datos permiten revisar diferencias antes del cierre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3511C-D2D1-4DFA-B0E2-F41AD6DD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6267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Los balances comparan cantidades retiradas y protocolizadas, y ayudan a enfocar la revisión donde existe una desviación.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39271-D692-4DFD-B693-BFBC94C7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626745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076c74c2f641c8"/>
          <a:srcRect xmlns:a="http://schemas.openxmlformats.org/drawingml/2006/main" l="1000" t="0" r="1000" b="0"/>
          <a:stretch xmlns:a="http://schemas.openxmlformats.org/drawingml/2006/main"/>
        </p:blipFill>
        <p:spPr>
          <a:xfrm xmlns:a="http://schemas.openxmlformats.org/drawingml/2006/main">
            <a:off x="762000" y="2933700"/>
            <a:ext cx="6038850" cy="2914650"/>
          </a:xfrm>
          <a:prstGeom xmlns:a="http://schemas.openxmlformats.org/drawingml/2006/main" prst="roundRect">
            <a:avLst>
              <a:gd name="adj" fmla="val 3268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9B331-DBB8-417E-BE1A-D17FFBF8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1381125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30CF8-7246-4CBC-81AF-312CA824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RETIRO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AFD49F-C270-48C1-96C2-684DA7B1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34175"/>
            <a:ext cx="115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Cantidad informada por bodega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9FB2F2-F653-4794-A07C-0DF4370F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6286500"/>
            <a:ext cx="1381125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C50260-9AA6-449C-A84D-6AEA09B5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COBRO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B7F5D8-7882-45DF-8FC8-693FC806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734175"/>
            <a:ext cx="115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Cantidad registrada en protocolos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07F41E-FB7A-43C4-9322-7DCF5378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286500"/>
            <a:ext cx="1381125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6D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F21EE4-EF78-428B-82CA-2DC5A658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869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A86900"/>
                </a:solidFill>
                <a:latin typeface="Arial"/>
                <a:ea typeface="Arial"/>
                <a:cs typeface="Arial"/>
              </a:rPr>
              <a:t>DIFERENCIA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8CE055-7074-49EF-ABE1-6AE53716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734175"/>
            <a:ext cx="115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Unidades que requieren revisión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54A41A-8080-477F-B0AE-43709247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6286500"/>
            <a:ext cx="1381125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CF46FD-BAF3-432C-A6C3-0536ED18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IMPACTO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068F28-F9F8-4612-B43F-07D23689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734175"/>
            <a:ext cx="115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Valor asociado a la desviación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4EE7E3-C830-4C62-B70F-AE11CA2A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Siguiente etapa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57E18F-BCBA-4D0D-BC5B-21640B49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248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1D6D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0CAF0E-7345-4005-9E5F-D375E3EF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248650"/>
            <a:ext cx="60769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Publicación: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alojar la aplicación en un dominio propio con certificados y respaldos definidos.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F50820-D13E-4409-ACC3-8FCC213F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249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1D6D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951472-5AD5-4FDA-94A8-303359F5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848725"/>
            <a:ext cx="60769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Integración: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evaluar intercambio de datos con Unisoft mediante archivos, API o una capa intermedia.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0E24E6-B91D-4610-82E3-C280C02C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1D6D1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CCA2F0-70FC-4EFF-B134-07C77912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60769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Gobierno de datos: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formalizar responsables, revisiones periódicas y criterios para corregir diferencias.</a:t>
            </a:r>
          </a:p>
        </p:txBody>
      </p:sp>
    </p:spTree>
    <p:extLst>
      <p:ext uri="{BB962C8B-B14F-4D97-AF65-F5344CB8AC3E}">
        <p14:creationId xmlns:p14="http://schemas.microsoft.com/office/powerpoint/2010/main" val="10425629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2026-09-29T18:09:48.1640000Z</dcterms:created>
  <dcterms:modified xsi:type="dcterms:W3CDTF">2026-09-29T18:09:48.1640000Z</dcterms:modified>
</coreProperties>
</file>